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ebas Neue Bold" charset="1" panose="020B0606020202050201"/>
      <p:regular r:id="rId13"/>
    </p:embeddedFont>
    <p:embeddedFont>
      <p:font typeface="Poppins" charset="1" panose="00000500000000000000"/>
      <p:regular r:id="rId14"/>
    </p:embeddedFont>
    <p:embeddedFont>
      <p:font typeface="Poppins Bold" charset="1" panose="00000800000000000000"/>
      <p:regular r:id="rId15"/>
    </p:embeddedFont>
    <p:embeddedFont>
      <p:font typeface="Poppins Medium" charset="1" panose="00000600000000000000"/>
      <p:regular r:id="rId16"/>
    </p:embeddedFont>
    <p:embeddedFont>
      <p:font typeface="Poppins Heavy" charset="1" panose="00000A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3.png" Type="http://schemas.openxmlformats.org/officeDocument/2006/relationships/image"/><Relationship Id="rId12" Target="../media/image4.sv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2" Target="../media/image25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2" Target="../media/image30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393">
                <a:alpha val="100000"/>
              </a:srgbClr>
            </a:gs>
            <a:gs pos="100000">
              <a:srgbClr val="0B225C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6489" y="1017692"/>
            <a:ext cx="7528120" cy="201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7"/>
              </a:lnSpc>
            </a:pPr>
            <a:r>
              <a:rPr lang="en-US" b="true" sz="6258" spc="-219">
                <a:solidFill>
                  <a:srgbClr val="E5EBF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Problematika dan Hambatan Praktis Pembelajaran PKn di Sekolah Dasar pada Era Digital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56489" y="3017992"/>
            <a:ext cx="7084122" cy="137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007"/>
              </a:lnSpc>
            </a:pPr>
            <a:r>
              <a:rPr lang="en-US" b="true" sz="6258" spc="-219">
                <a:solidFill>
                  <a:srgbClr val="FF99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Rendahnya Minat Belajar Siswa terhadap PKn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332881" y="5347197"/>
            <a:ext cx="5931339" cy="3922098"/>
          </a:xfrm>
          <a:custGeom>
            <a:avLst/>
            <a:gdLst/>
            <a:ahLst/>
            <a:cxnLst/>
            <a:rect r="r" b="b" t="t" l="l"/>
            <a:pathLst>
              <a:path h="3922098" w="5931339">
                <a:moveTo>
                  <a:pt x="0" y="0"/>
                </a:moveTo>
                <a:lnTo>
                  <a:pt x="5931339" y="0"/>
                </a:lnTo>
                <a:lnTo>
                  <a:pt x="5931339" y="3922098"/>
                </a:lnTo>
                <a:lnTo>
                  <a:pt x="0" y="3922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20910" y="1639829"/>
            <a:ext cx="6491678" cy="6815410"/>
          </a:xfrm>
          <a:custGeom>
            <a:avLst/>
            <a:gdLst/>
            <a:ahLst/>
            <a:cxnLst/>
            <a:rect r="r" b="b" t="t" l="l"/>
            <a:pathLst>
              <a:path h="6815410" w="6491678">
                <a:moveTo>
                  <a:pt x="0" y="0"/>
                </a:moveTo>
                <a:lnTo>
                  <a:pt x="6491678" y="0"/>
                </a:lnTo>
                <a:lnTo>
                  <a:pt x="6491678" y="6815409"/>
                </a:lnTo>
                <a:lnTo>
                  <a:pt x="0" y="6815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81457" y="7110681"/>
            <a:ext cx="4211344" cy="1943262"/>
            <a:chOff x="0" y="0"/>
            <a:chExt cx="1328035" cy="6128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8035" cy="612802"/>
            </a:xfrm>
            <a:custGeom>
              <a:avLst/>
              <a:gdLst/>
              <a:ahLst/>
              <a:cxnLst/>
              <a:rect r="r" b="b" t="t" l="l"/>
              <a:pathLst>
                <a:path h="612802" w="1328035">
                  <a:moveTo>
                    <a:pt x="45959" y="0"/>
                  </a:moveTo>
                  <a:lnTo>
                    <a:pt x="1282076" y="0"/>
                  </a:lnTo>
                  <a:cubicBezTo>
                    <a:pt x="1307458" y="0"/>
                    <a:pt x="1328035" y="20576"/>
                    <a:pt x="1328035" y="45959"/>
                  </a:cubicBezTo>
                  <a:lnTo>
                    <a:pt x="1328035" y="566843"/>
                  </a:lnTo>
                  <a:cubicBezTo>
                    <a:pt x="1328035" y="579032"/>
                    <a:pt x="1323193" y="590722"/>
                    <a:pt x="1314574" y="599341"/>
                  </a:cubicBezTo>
                  <a:cubicBezTo>
                    <a:pt x="1305955" y="607960"/>
                    <a:pt x="1294265" y="612802"/>
                    <a:pt x="1282076" y="612802"/>
                  </a:cubicBezTo>
                  <a:lnTo>
                    <a:pt x="45959" y="612802"/>
                  </a:lnTo>
                  <a:cubicBezTo>
                    <a:pt x="20576" y="612802"/>
                    <a:pt x="0" y="592225"/>
                    <a:pt x="0" y="566843"/>
                  </a:cubicBezTo>
                  <a:lnTo>
                    <a:pt x="0" y="45959"/>
                  </a:lnTo>
                  <a:cubicBezTo>
                    <a:pt x="0" y="20576"/>
                    <a:pt x="20576" y="0"/>
                    <a:pt x="459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28035" cy="650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963623" y="7365769"/>
            <a:ext cx="4047011" cy="123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  <a:r>
              <a:rPr lang="en-US" sz="1394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Disusun oleh: Melynawaty JK. Nadi</a:t>
            </a:r>
          </a:p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  <a:r>
              <a:rPr lang="en-US" sz="1394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NIM : (F05425041)</a:t>
            </a:r>
          </a:p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  <a:r>
              <a:rPr lang="en-US" sz="1394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Mata Kuliah: PKn Pendas, Program Studi Magister Pendidikan Dasar Pascasarjana</a:t>
            </a:r>
          </a:p>
          <a:p>
            <a:pPr algn="ctr" marL="0" indent="0" lvl="0">
              <a:lnSpc>
                <a:spcPts val="1952"/>
              </a:lnSpc>
              <a:spcBef>
                <a:spcPct val="0"/>
              </a:spcBef>
            </a:pPr>
            <a:r>
              <a:rPr lang="en-US" sz="1394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Universitas Muhammadiyah Gorontalo, 2026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652658" y="5143500"/>
            <a:ext cx="722126" cy="690615"/>
          </a:xfrm>
          <a:custGeom>
            <a:avLst/>
            <a:gdLst/>
            <a:ahLst/>
            <a:cxnLst/>
            <a:rect r="r" b="b" t="t" l="l"/>
            <a:pathLst>
              <a:path h="690615" w="722126">
                <a:moveTo>
                  <a:pt x="0" y="0"/>
                </a:moveTo>
                <a:lnTo>
                  <a:pt x="722125" y="0"/>
                </a:lnTo>
                <a:lnTo>
                  <a:pt x="722125" y="690615"/>
                </a:lnTo>
                <a:lnTo>
                  <a:pt x="0" y="690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409849">
            <a:off x="9810381" y="2433038"/>
            <a:ext cx="406680" cy="1196117"/>
          </a:xfrm>
          <a:custGeom>
            <a:avLst/>
            <a:gdLst/>
            <a:ahLst/>
            <a:cxnLst/>
            <a:rect r="r" b="b" t="t" l="l"/>
            <a:pathLst>
              <a:path h="1196117" w="406680">
                <a:moveTo>
                  <a:pt x="0" y="0"/>
                </a:moveTo>
                <a:lnTo>
                  <a:pt x="406679" y="0"/>
                </a:lnTo>
                <a:lnTo>
                  <a:pt x="406679" y="1196117"/>
                </a:lnTo>
                <a:lnTo>
                  <a:pt x="0" y="11961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631745">
            <a:off x="16088980" y="8053431"/>
            <a:ext cx="587646" cy="580167"/>
          </a:xfrm>
          <a:custGeom>
            <a:avLst/>
            <a:gdLst/>
            <a:ahLst/>
            <a:cxnLst/>
            <a:rect r="r" b="b" t="t" l="l"/>
            <a:pathLst>
              <a:path h="580167" w="587646">
                <a:moveTo>
                  <a:pt x="0" y="0"/>
                </a:moveTo>
                <a:lnTo>
                  <a:pt x="587646" y="0"/>
                </a:lnTo>
                <a:lnTo>
                  <a:pt x="587646" y="580166"/>
                </a:lnTo>
                <a:lnTo>
                  <a:pt x="0" y="5801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805453">
            <a:off x="1348504" y="5520897"/>
            <a:ext cx="634511" cy="626435"/>
          </a:xfrm>
          <a:custGeom>
            <a:avLst/>
            <a:gdLst/>
            <a:ahLst/>
            <a:cxnLst/>
            <a:rect r="r" b="b" t="t" l="l"/>
            <a:pathLst>
              <a:path h="626435" w="634511">
                <a:moveTo>
                  <a:pt x="0" y="0"/>
                </a:moveTo>
                <a:lnTo>
                  <a:pt x="634511" y="0"/>
                </a:lnTo>
                <a:lnTo>
                  <a:pt x="634511" y="626435"/>
                </a:lnTo>
                <a:lnTo>
                  <a:pt x="0" y="6264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349288" y="8224174"/>
            <a:ext cx="632942" cy="632942"/>
          </a:xfrm>
          <a:custGeom>
            <a:avLst/>
            <a:gdLst/>
            <a:ahLst/>
            <a:cxnLst/>
            <a:rect r="r" b="b" t="t" l="l"/>
            <a:pathLst>
              <a:path h="632942" w="632942">
                <a:moveTo>
                  <a:pt x="0" y="0"/>
                </a:moveTo>
                <a:lnTo>
                  <a:pt x="632942" y="0"/>
                </a:lnTo>
                <a:lnTo>
                  <a:pt x="632942" y="632942"/>
                </a:lnTo>
                <a:lnTo>
                  <a:pt x="0" y="6329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393">
                <a:alpha val="100000"/>
              </a:srgbClr>
            </a:gs>
            <a:gs pos="100000">
              <a:srgbClr val="0B225C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03543" y="672946"/>
            <a:ext cx="6134847" cy="2309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7"/>
              </a:lnSpc>
            </a:pPr>
            <a:r>
              <a:rPr lang="en-US" b="true" sz="10671" spc="-373">
                <a:solidFill>
                  <a:srgbClr val="E5EBF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Latar Belakang &amp;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562046" y="3101935"/>
            <a:ext cx="6581670" cy="122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7"/>
              </a:lnSpc>
            </a:pPr>
            <a:r>
              <a:rPr lang="en-US" b="true" sz="10671" spc="-373">
                <a:solidFill>
                  <a:srgbClr val="FF99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Urgensi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577367" y="833055"/>
            <a:ext cx="11779937" cy="7067962"/>
          </a:xfrm>
          <a:custGeom>
            <a:avLst/>
            <a:gdLst/>
            <a:ahLst/>
            <a:cxnLst/>
            <a:rect r="r" b="b" t="t" l="l"/>
            <a:pathLst>
              <a:path h="7067962" w="11779937">
                <a:moveTo>
                  <a:pt x="0" y="0"/>
                </a:moveTo>
                <a:lnTo>
                  <a:pt x="11779937" y="0"/>
                </a:lnTo>
                <a:lnTo>
                  <a:pt x="11779937" y="7067962"/>
                </a:lnTo>
                <a:lnTo>
                  <a:pt x="0" y="706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5461342"/>
            <a:ext cx="3583142" cy="987497"/>
            <a:chOff x="0" y="0"/>
            <a:chExt cx="1871667" cy="51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71667" cy="515823"/>
            </a:xfrm>
            <a:custGeom>
              <a:avLst/>
              <a:gdLst/>
              <a:ahLst/>
              <a:cxnLst/>
              <a:rect r="r" b="b" t="t" l="l"/>
              <a:pathLst>
                <a:path h="515823" w="1871667">
                  <a:moveTo>
                    <a:pt x="54016" y="0"/>
                  </a:moveTo>
                  <a:lnTo>
                    <a:pt x="1817651" y="0"/>
                  </a:lnTo>
                  <a:cubicBezTo>
                    <a:pt x="1847483" y="0"/>
                    <a:pt x="1871667" y="24184"/>
                    <a:pt x="1871667" y="54016"/>
                  </a:cubicBezTo>
                  <a:lnTo>
                    <a:pt x="1871667" y="461807"/>
                  </a:lnTo>
                  <a:cubicBezTo>
                    <a:pt x="1871667" y="491639"/>
                    <a:pt x="1847483" y="515823"/>
                    <a:pt x="1817651" y="515823"/>
                  </a:cubicBezTo>
                  <a:lnTo>
                    <a:pt x="54016" y="515823"/>
                  </a:lnTo>
                  <a:cubicBezTo>
                    <a:pt x="39690" y="515823"/>
                    <a:pt x="25951" y="510132"/>
                    <a:pt x="15821" y="500002"/>
                  </a:cubicBezTo>
                  <a:cubicBezTo>
                    <a:pt x="5691" y="489872"/>
                    <a:pt x="0" y="476133"/>
                    <a:pt x="0" y="461807"/>
                  </a:cubicBezTo>
                  <a:lnTo>
                    <a:pt x="0" y="54016"/>
                  </a:lnTo>
                  <a:cubicBezTo>
                    <a:pt x="0" y="24184"/>
                    <a:pt x="24184" y="0"/>
                    <a:pt x="540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71667" cy="553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1211" y="5744615"/>
            <a:ext cx="2729607" cy="36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2"/>
              </a:lnSpc>
              <a:spcBef>
                <a:spcPct val="0"/>
              </a:spcBef>
            </a:pPr>
            <a:r>
              <a:rPr lang="en-US" b="true" sz="2030" spc="-150">
                <a:solidFill>
                  <a:srgbClr val="E5EBF3"/>
                </a:solidFill>
                <a:latin typeface="Poppins Bold"/>
                <a:ea typeface="Poppins Bold"/>
                <a:cs typeface="Poppins Bold"/>
                <a:sym typeface="Poppins Bold"/>
              </a:rPr>
              <a:t>Pembelajaran PKn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86014" y="7058666"/>
            <a:ext cx="6785393" cy="43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1"/>
              </a:lnSpc>
              <a:spcBef>
                <a:spcPct val="0"/>
              </a:spcBef>
            </a:pPr>
            <a:r>
              <a:rPr lang="en-US" b="true" sz="1236">
                <a:solidFill>
                  <a:srgbClr val="E5EB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Perkembangan teknologi digital membawa perubahan besar dalam pendidikan. PKn penting untuk membentuk karakter, moral, sikap demokratis, dan cinta tanah air.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35571" y="8103768"/>
            <a:ext cx="5725773" cy="43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1"/>
              </a:lnSpc>
              <a:spcBef>
                <a:spcPct val="0"/>
              </a:spcBef>
            </a:pPr>
            <a:r>
              <a:rPr lang="en-US" b="true" sz="1236">
                <a:solidFill>
                  <a:srgbClr val="E5EB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Urgensi: pembentukan karakter bangsa, penanaman nilai Pancasila, toleransi, gotong royong, demokrasi, dan kesadaran digital.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103543" y="8060299"/>
            <a:ext cx="492256" cy="560540"/>
          </a:xfrm>
          <a:custGeom>
            <a:avLst/>
            <a:gdLst/>
            <a:ahLst/>
            <a:cxnLst/>
            <a:rect r="r" b="b" t="t" l="l"/>
            <a:pathLst>
              <a:path h="560540" w="492256">
                <a:moveTo>
                  <a:pt x="0" y="0"/>
                </a:moveTo>
                <a:lnTo>
                  <a:pt x="492256" y="0"/>
                </a:lnTo>
                <a:lnTo>
                  <a:pt x="492256" y="560540"/>
                </a:lnTo>
                <a:lnTo>
                  <a:pt x="0" y="560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02570" y="7050676"/>
            <a:ext cx="492256" cy="560540"/>
          </a:xfrm>
          <a:custGeom>
            <a:avLst/>
            <a:gdLst/>
            <a:ahLst/>
            <a:cxnLst/>
            <a:rect r="r" b="b" t="t" l="l"/>
            <a:pathLst>
              <a:path h="560540" w="492256">
                <a:moveTo>
                  <a:pt x="0" y="0"/>
                </a:moveTo>
                <a:lnTo>
                  <a:pt x="492256" y="0"/>
                </a:lnTo>
                <a:lnTo>
                  <a:pt x="492256" y="560539"/>
                </a:lnTo>
                <a:lnTo>
                  <a:pt x="0" y="5605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479861">
            <a:off x="16150003" y="4152113"/>
            <a:ext cx="554068" cy="547016"/>
          </a:xfrm>
          <a:custGeom>
            <a:avLst/>
            <a:gdLst/>
            <a:ahLst/>
            <a:cxnLst/>
            <a:rect r="r" b="b" t="t" l="l"/>
            <a:pathLst>
              <a:path h="547016" w="554068">
                <a:moveTo>
                  <a:pt x="0" y="0"/>
                </a:moveTo>
                <a:lnTo>
                  <a:pt x="554067" y="0"/>
                </a:lnTo>
                <a:lnTo>
                  <a:pt x="554067" y="547015"/>
                </a:lnTo>
                <a:lnTo>
                  <a:pt x="0" y="5470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1541094">
            <a:off x="8236068" y="1457716"/>
            <a:ext cx="559679" cy="552556"/>
          </a:xfrm>
          <a:custGeom>
            <a:avLst/>
            <a:gdLst/>
            <a:ahLst/>
            <a:cxnLst/>
            <a:rect r="r" b="b" t="t" l="l"/>
            <a:pathLst>
              <a:path h="552556" w="559679">
                <a:moveTo>
                  <a:pt x="0" y="0"/>
                </a:moveTo>
                <a:lnTo>
                  <a:pt x="559679" y="0"/>
                </a:lnTo>
                <a:lnTo>
                  <a:pt x="559679" y="552555"/>
                </a:lnTo>
                <a:lnTo>
                  <a:pt x="0" y="5525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7909464" y="3074850"/>
            <a:ext cx="562112" cy="553980"/>
          </a:xfrm>
          <a:custGeom>
            <a:avLst/>
            <a:gdLst/>
            <a:ahLst/>
            <a:cxnLst/>
            <a:rect r="r" b="b" t="t" l="l"/>
            <a:pathLst>
              <a:path h="553980" w="562112">
                <a:moveTo>
                  <a:pt x="0" y="0"/>
                </a:moveTo>
                <a:lnTo>
                  <a:pt x="562112" y="0"/>
                </a:lnTo>
                <a:lnTo>
                  <a:pt x="562112" y="553980"/>
                </a:lnTo>
                <a:lnTo>
                  <a:pt x="0" y="5539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-652586">
            <a:off x="13636385" y="5590861"/>
            <a:ext cx="1416962" cy="463733"/>
          </a:xfrm>
          <a:custGeom>
            <a:avLst/>
            <a:gdLst/>
            <a:ahLst/>
            <a:cxnLst/>
            <a:rect r="r" b="b" t="t" l="l"/>
            <a:pathLst>
              <a:path h="463733" w="1416962">
                <a:moveTo>
                  <a:pt x="0" y="0"/>
                </a:moveTo>
                <a:lnTo>
                  <a:pt x="1416962" y="0"/>
                </a:lnTo>
                <a:lnTo>
                  <a:pt x="1416962" y="463734"/>
                </a:lnTo>
                <a:lnTo>
                  <a:pt x="0" y="4637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8957827">
            <a:off x="7061233" y="7482908"/>
            <a:ext cx="807173" cy="771950"/>
          </a:xfrm>
          <a:custGeom>
            <a:avLst/>
            <a:gdLst/>
            <a:ahLst/>
            <a:cxnLst/>
            <a:rect r="r" b="b" t="t" l="l"/>
            <a:pathLst>
              <a:path h="771950" w="807173">
                <a:moveTo>
                  <a:pt x="0" y="0"/>
                </a:moveTo>
                <a:lnTo>
                  <a:pt x="807173" y="0"/>
                </a:lnTo>
                <a:lnTo>
                  <a:pt x="807173" y="771950"/>
                </a:lnTo>
                <a:lnTo>
                  <a:pt x="0" y="771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393">
                <a:alpha val="100000"/>
              </a:srgbClr>
            </a:gs>
            <a:gs pos="100000">
              <a:srgbClr val="0B225C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74703" y="1628881"/>
            <a:ext cx="7733872" cy="2668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84"/>
              </a:lnSpc>
            </a:pPr>
            <a:r>
              <a:rPr lang="en-US" b="true" sz="12355" spc="-432">
                <a:solidFill>
                  <a:srgbClr val="E5EBF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Problematika dan Hambatan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08571" y="3781549"/>
            <a:ext cx="5395115" cy="5422398"/>
          </a:xfrm>
          <a:custGeom>
            <a:avLst/>
            <a:gdLst/>
            <a:ahLst/>
            <a:cxnLst/>
            <a:rect r="r" b="b" t="t" l="l"/>
            <a:pathLst>
              <a:path h="5422398" w="5395115">
                <a:moveTo>
                  <a:pt x="0" y="0"/>
                </a:moveTo>
                <a:lnTo>
                  <a:pt x="5395115" y="0"/>
                </a:lnTo>
                <a:lnTo>
                  <a:pt x="5395115" y="5422397"/>
                </a:lnTo>
                <a:lnTo>
                  <a:pt x="0" y="54223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31105" y="3059571"/>
            <a:ext cx="6414843" cy="5604969"/>
          </a:xfrm>
          <a:custGeom>
            <a:avLst/>
            <a:gdLst/>
            <a:ahLst/>
            <a:cxnLst/>
            <a:rect r="r" b="b" t="t" l="l"/>
            <a:pathLst>
              <a:path h="5604969" w="6414843">
                <a:moveTo>
                  <a:pt x="0" y="0"/>
                </a:moveTo>
                <a:lnTo>
                  <a:pt x="6414843" y="0"/>
                </a:lnTo>
                <a:lnTo>
                  <a:pt x="6414843" y="5604969"/>
                </a:lnTo>
                <a:lnTo>
                  <a:pt x="0" y="5604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992412" y="4721030"/>
            <a:ext cx="2999515" cy="1275575"/>
            <a:chOff x="0" y="0"/>
            <a:chExt cx="1654486" cy="7035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4486" cy="703587"/>
            </a:xfrm>
            <a:custGeom>
              <a:avLst/>
              <a:gdLst/>
              <a:ahLst/>
              <a:cxnLst/>
              <a:rect r="r" b="b" t="t" l="l"/>
              <a:pathLst>
                <a:path h="703587" w="1654486">
                  <a:moveTo>
                    <a:pt x="64526" y="0"/>
                  </a:moveTo>
                  <a:lnTo>
                    <a:pt x="1589959" y="0"/>
                  </a:lnTo>
                  <a:cubicBezTo>
                    <a:pt x="1625596" y="0"/>
                    <a:pt x="1654486" y="28889"/>
                    <a:pt x="1654486" y="64526"/>
                  </a:cubicBezTo>
                  <a:lnTo>
                    <a:pt x="1654486" y="639061"/>
                  </a:lnTo>
                  <a:cubicBezTo>
                    <a:pt x="1654486" y="674698"/>
                    <a:pt x="1625596" y="703587"/>
                    <a:pt x="1589959" y="703587"/>
                  </a:cubicBezTo>
                  <a:lnTo>
                    <a:pt x="64526" y="703587"/>
                  </a:lnTo>
                  <a:cubicBezTo>
                    <a:pt x="28889" y="703587"/>
                    <a:pt x="0" y="674698"/>
                    <a:pt x="0" y="639061"/>
                  </a:cubicBezTo>
                  <a:lnTo>
                    <a:pt x="0" y="64526"/>
                  </a:lnTo>
                  <a:cubicBezTo>
                    <a:pt x="0" y="28889"/>
                    <a:pt x="28889" y="0"/>
                    <a:pt x="64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54486" cy="74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96534" y="4721030"/>
            <a:ext cx="2999515" cy="1275575"/>
            <a:chOff x="0" y="0"/>
            <a:chExt cx="1654486" cy="703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4486" cy="703587"/>
            </a:xfrm>
            <a:custGeom>
              <a:avLst/>
              <a:gdLst/>
              <a:ahLst/>
              <a:cxnLst/>
              <a:rect r="r" b="b" t="t" l="l"/>
              <a:pathLst>
                <a:path h="703587" w="1654486">
                  <a:moveTo>
                    <a:pt x="64526" y="0"/>
                  </a:moveTo>
                  <a:lnTo>
                    <a:pt x="1589959" y="0"/>
                  </a:lnTo>
                  <a:cubicBezTo>
                    <a:pt x="1625596" y="0"/>
                    <a:pt x="1654486" y="28889"/>
                    <a:pt x="1654486" y="64526"/>
                  </a:cubicBezTo>
                  <a:lnTo>
                    <a:pt x="1654486" y="639061"/>
                  </a:lnTo>
                  <a:cubicBezTo>
                    <a:pt x="1654486" y="674698"/>
                    <a:pt x="1625596" y="703587"/>
                    <a:pt x="1589959" y="703587"/>
                  </a:cubicBezTo>
                  <a:lnTo>
                    <a:pt x="64526" y="703587"/>
                  </a:lnTo>
                  <a:cubicBezTo>
                    <a:pt x="28889" y="703587"/>
                    <a:pt x="0" y="674698"/>
                    <a:pt x="0" y="639061"/>
                  </a:cubicBezTo>
                  <a:lnTo>
                    <a:pt x="0" y="64526"/>
                  </a:lnTo>
                  <a:cubicBezTo>
                    <a:pt x="0" y="28889"/>
                    <a:pt x="28889" y="0"/>
                    <a:pt x="64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54486" cy="74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92169" y="6397118"/>
            <a:ext cx="3283664" cy="1396412"/>
            <a:chOff x="0" y="0"/>
            <a:chExt cx="1654486" cy="7035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54486" cy="703587"/>
            </a:xfrm>
            <a:custGeom>
              <a:avLst/>
              <a:gdLst/>
              <a:ahLst/>
              <a:cxnLst/>
              <a:rect r="r" b="b" t="t" l="l"/>
              <a:pathLst>
                <a:path h="703587" w="1654486">
                  <a:moveTo>
                    <a:pt x="58943" y="0"/>
                  </a:moveTo>
                  <a:lnTo>
                    <a:pt x="1595543" y="0"/>
                  </a:lnTo>
                  <a:cubicBezTo>
                    <a:pt x="1611175" y="0"/>
                    <a:pt x="1626168" y="6210"/>
                    <a:pt x="1637222" y="17264"/>
                  </a:cubicBezTo>
                  <a:cubicBezTo>
                    <a:pt x="1648276" y="28318"/>
                    <a:pt x="1654486" y="43310"/>
                    <a:pt x="1654486" y="58943"/>
                  </a:cubicBezTo>
                  <a:lnTo>
                    <a:pt x="1654486" y="644645"/>
                  </a:lnTo>
                  <a:cubicBezTo>
                    <a:pt x="1654486" y="660277"/>
                    <a:pt x="1648276" y="675270"/>
                    <a:pt x="1637222" y="686323"/>
                  </a:cubicBezTo>
                  <a:cubicBezTo>
                    <a:pt x="1626168" y="697377"/>
                    <a:pt x="1611175" y="703587"/>
                    <a:pt x="1595543" y="703587"/>
                  </a:cubicBezTo>
                  <a:lnTo>
                    <a:pt x="58943" y="703587"/>
                  </a:lnTo>
                  <a:cubicBezTo>
                    <a:pt x="43310" y="703587"/>
                    <a:pt x="28318" y="697377"/>
                    <a:pt x="17264" y="686323"/>
                  </a:cubicBezTo>
                  <a:cubicBezTo>
                    <a:pt x="6210" y="675270"/>
                    <a:pt x="0" y="660277"/>
                    <a:pt x="0" y="644645"/>
                  </a:cubicBezTo>
                  <a:lnTo>
                    <a:pt x="0" y="58943"/>
                  </a:lnTo>
                  <a:cubicBezTo>
                    <a:pt x="0" y="43310"/>
                    <a:pt x="6210" y="28318"/>
                    <a:pt x="17264" y="17264"/>
                  </a:cubicBezTo>
                  <a:cubicBezTo>
                    <a:pt x="28318" y="6210"/>
                    <a:pt x="43310" y="0"/>
                    <a:pt x="58943" y="0"/>
                  </a:cubicBezTo>
                  <a:close/>
                </a:path>
              </a:pathLst>
            </a:custGeom>
            <a:solidFill>
              <a:srgbClr val="FF9900"/>
            </a:soli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54486" cy="74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190061" y="5089462"/>
            <a:ext cx="2355328" cy="788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0"/>
              </a:lnSpc>
            </a:pPr>
            <a:r>
              <a:rPr lang="en-US" sz="992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Rendah minat belajar siswa, materi dianggap sulit dan membosankan. Metode konvensional ceramah dan hafalan. Rendahnya kompetensi teknologi guru.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41127" y="5075499"/>
            <a:ext cx="2710329" cy="76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59"/>
              </a:lnSpc>
            </a:pPr>
            <a:r>
              <a:rPr lang="en-US" sz="1199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Keterbatasan sarana dan infrastruktur teknologi. Rendahnya literasi digital guru. Pengaruh negatif media sosial.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42619" y="6836043"/>
            <a:ext cx="2638142" cy="76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60"/>
              </a:lnSpc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Kurangnya dukungan dan pengawasan orang tua dalam pembelajaran digital anak di rumah.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81598" y="4759481"/>
            <a:ext cx="2263791" cy="30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6"/>
              </a:lnSpc>
              <a:spcBef>
                <a:spcPct val="0"/>
              </a:spcBef>
            </a:pPr>
            <a:r>
              <a:rPr lang="en-US" b="true" sz="1740" spc="-128">
                <a:solidFill>
                  <a:srgbClr val="E5EBF3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Problematika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85720" y="4759481"/>
            <a:ext cx="2263791" cy="30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6"/>
              </a:lnSpc>
              <a:spcBef>
                <a:spcPct val="0"/>
              </a:spcBef>
            </a:pPr>
            <a:r>
              <a:rPr lang="en-US" b="true" sz="1740" spc="-128">
                <a:solidFill>
                  <a:srgbClr val="E5EBF3"/>
                </a:solidFill>
                <a:latin typeface="Poppins Bold"/>
                <a:ea typeface="Poppins Bold"/>
                <a:cs typeface="Poppins Bold"/>
                <a:sym typeface="Poppins Bold"/>
              </a:rPr>
              <a:t>Hambatan Praktis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02518" y="6364091"/>
            <a:ext cx="2478243" cy="34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7"/>
              </a:lnSpc>
              <a:spcBef>
                <a:spcPct val="0"/>
              </a:spcBef>
            </a:pPr>
            <a:r>
              <a:rPr lang="en-US" b="true" sz="1905" spc="-1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Faktor Keluarga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479861">
            <a:off x="7110777" y="8247799"/>
            <a:ext cx="656102" cy="647752"/>
          </a:xfrm>
          <a:custGeom>
            <a:avLst/>
            <a:gdLst/>
            <a:ahLst/>
            <a:cxnLst/>
            <a:rect r="r" b="b" t="t" l="l"/>
            <a:pathLst>
              <a:path h="647752" w="656102">
                <a:moveTo>
                  <a:pt x="0" y="0"/>
                </a:moveTo>
                <a:lnTo>
                  <a:pt x="656102" y="0"/>
                </a:lnTo>
                <a:lnTo>
                  <a:pt x="656102" y="647752"/>
                </a:lnTo>
                <a:lnTo>
                  <a:pt x="0" y="6477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929331" y="4463551"/>
            <a:ext cx="813763" cy="813763"/>
          </a:xfrm>
          <a:custGeom>
            <a:avLst/>
            <a:gdLst/>
            <a:ahLst/>
            <a:cxnLst/>
            <a:rect r="r" b="b" t="t" l="l"/>
            <a:pathLst>
              <a:path h="813763" w="813763">
                <a:moveTo>
                  <a:pt x="0" y="0"/>
                </a:moveTo>
                <a:lnTo>
                  <a:pt x="813763" y="0"/>
                </a:lnTo>
                <a:lnTo>
                  <a:pt x="813763" y="813763"/>
                </a:lnTo>
                <a:lnTo>
                  <a:pt x="0" y="8137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3076919" y="2119526"/>
            <a:ext cx="1371583" cy="720081"/>
          </a:xfrm>
          <a:custGeom>
            <a:avLst/>
            <a:gdLst/>
            <a:ahLst/>
            <a:cxnLst/>
            <a:rect r="r" b="b" t="t" l="l"/>
            <a:pathLst>
              <a:path h="720081" w="1371583">
                <a:moveTo>
                  <a:pt x="0" y="0"/>
                </a:moveTo>
                <a:lnTo>
                  <a:pt x="1371583" y="0"/>
                </a:lnTo>
                <a:lnTo>
                  <a:pt x="1371583" y="720081"/>
                </a:lnTo>
                <a:lnTo>
                  <a:pt x="0" y="7200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718923">
            <a:off x="10500151" y="8262100"/>
            <a:ext cx="585118" cy="574479"/>
          </a:xfrm>
          <a:custGeom>
            <a:avLst/>
            <a:gdLst/>
            <a:ahLst/>
            <a:cxnLst/>
            <a:rect r="r" b="b" t="t" l="l"/>
            <a:pathLst>
              <a:path h="574479" w="585118">
                <a:moveTo>
                  <a:pt x="0" y="0"/>
                </a:moveTo>
                <a:lnTo>
                  <a:pt x="585118" y="0"/>
                </a:lnTo>
                <a:lnTo>
                  <a:pt x="585118" y="574480"/>
                </a:lnTo>
                <a:lnTo>
                  <a:pt x="0" y="57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-652586">
            <a:off x="14525024" y="2340202"/>
            <a:ext cx="1291128" cy="422551"/>
          </a:xfrm>
          <a:custGeom>
            <a:avLst/>
            <a:gdLst/>
            <a:ahLst/>
            <a:cxnLst/>
            <a:rect r="r" b="b" t="t" l="l"/>
            <a:pathLst>
              <a:path h="422551" w="1291128">
                <a:moveTo>
                  <a:pt x="0" y="0"/>
                </a:moveTo>
                <a:lnTo>
                  <a:pt x="1291128" y="0"/>
                </a:lnTo>
                <a:lnTo>
                  <a:pt x="1291128" y="422551"/>
                </a:lnTo>
                <a:lnTo>
                  <a:pt x="0" y="422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393">
                <a:alpha val="100000"/>
              </a:srgbClr>
            </a:gs>
            <a:gs pos="100000">
              <a:srgbClr val="0B225C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76354" y="1581150"/>
            <a:ext cx="5853933" cy="168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61"/>
              </a:lnSpc>
            </a:pPr>
            <a:r>
              <a:rPr lang="en-US" b="true" sz="14701" spc="-514">
                <a:solidFill>
                  <a:srgbClr val="E5EBF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Penyebab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30287" y="1825234"/>
            <a:ext cx="5861394" cy="102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86"/>
              </a:lnSpc>
            </a:pPr>
            <a:r>
              <a:rPr lang="en-US" b="true" sz="8982" spc="-314">
                <a:solidFill>
                  <a:srgbClr val="FF99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Dan Dampak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034038" y="3144388"/>
            <a:ext cx="3679732" cy="5117937"/>
          </a:xfrm>
          <a:custGeom>
            <a:avLst/>
            <a:gdLst/>
            <a:ahLst/>
            <a:cxnLst/>
            <a:rect r="r" b="b" t="t" l="l"/>
            <a:pathLst>
              <a:path h="5117937" w="3679732">
                <a:moveTo>
                  <a:pt x="0" y="0"/>
                </a:moveTo>
                <a:lnTo>
                  <a:pt x="3679732" y="0"/>
                </a:lnTo>
                <a:lnTo>
                  <a:pt x="3679732" y="5117937"/>
                </a:lnTo>
                <a:lnTo>
                  <a:pt x="0" y="5117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2452313" y="2670351"/>
            <a:ext cx="1870947" cy="3594496"/>
            <a:chOff x="0" y="0"/>
            <a:chExt cx="492760" cy="9466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2760" cy="946699"/>
            </a:xfrm>
            <a:custGeom>
              <a:avLst/>
              <a:gdLst/>
              <a:ahLst/>
              <a:cxnLst/>
              <a:rect r="r" b="b" t="t" l="l"/>
              <a:pathLst>
                <a:path h="946699" w="492760">
                  <a:moveTo>
                    <a:pt x="103449" y="0"/>
                  </a:moveTo>
                  <a:lnTo>
                    <a:pt x="389311" y="0"/>
                  </a:lnTo>
                  <a:cubicBezTo>
                    <a:pt x="416747" y="0"/>
                    <a:pt x="443060" y="10899"/>
                    <a:pt x="462460" y="30300"/>
                  </a:cubicBezTo>
                  <a:cubicBezTo>
                    <a:pt x="481861" y="49700"/>
                    <a:pt x="492760" y="76013"/>
                    <a:pt x="492760" y="103449"/>
                  </a:cubicBezTo>
                  <a:lnTo>
                    <a:pt x="492760" y="843249"/>
                  </a:lnTo>
                  <a:cubicBezTo>
                    <a:pt x="492760" y="870686"/>
                    <a:pt x="481861" y="896998"/>
                    <a:pt x="462460" y="916399"/>
                  </a:cubicBezTo>
                  <a:cubicBezTo>
                    <a:pt x="443060" y="935799"/>
                    <a:pt x="416747" y="946699"/>
                    <a:pt x="389311" y="946699"/>
                  </a:cubicBezTo>
                  <a:lnTo>
                    <a:pt x="103449" y="946699"/>
                  </a:lnTo>
                  <a:cubicBezTo>
                    <a:pt x="76013" y="946699"/>
                    <a:pt x="49700" y="935799"/>
                    <a:pt x="30300" y="916399"/>
                  </a:cubicBezTo>
                  <a:cubicBezTo>
                    <a:pt x="10899" y="896998"/>
                    <a:pt x="0" y="870686"/>
                    <a:pt x="0" y="843249"/>
                  </a:cubicBezTo>
                  <a:lnTo>
                    <a:pt x="0" y="103449"/>
                  </a:lnTo>
                  <a:cubicBezTo>
                    <a:pt x="0" y="76013"/>
                    <a:pt x="10899" y="49700"/>
                    <a:pt x="30300" y="30300"/>
                  </a:cubicBezTo>
                  <a:cubicBezTo>
                    <a:pt x="49700" y="10899"/>
                    <a:pt x="76013" y="0"/>
                    <a:pt x="1034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92760" cy="1003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13940061" y="3054918"/>
            <a:ext cx="1891794" cy="3594496"/>
            <a:chOff x="0" y="0"/>
            <a:chExt cx="498250" cy="9466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8250" cy="946699"/>
            </a:xfrm>
            <a:custGeom>
              <a:avLst/>
              <a:gdLst/>
              <a:ahLst/>
              <a:cxnLst/>
              <a:rect r="r" b="b" t="t" l="l"/>
              <a:pathLst>
                <a:path h="946699" w="498250">
                  <a:moveTo>
                    <a:pt x="102309" y="0"/>
                  </a:moveTo>
                  <a:lnTo>
                    <a:pt x="395941" y="0"/>
                  </a:lnTo>
                  <a:cubicBezTo>
                    <a:pt x="452445" y="0"/>
                    <a:pt x="498250" y="45805"/>
                    <a:pt x="498250" y="102309"/>
                  </a:cubicBezTo>
                  <a:lnTo>
                    <a:pt x="498250" y="844389"/>
                  </a:lnTo>
                  <a:cubicBezTo>
                    <a:pt x="498250" y="900893"/>
                    <a:pt x="452445" y="946699"/>
                    <a:pt x="395941" y="946699"/>
                  </a:cubicBezTo>
                  <a:lnTo>
                    <a:pt x="102309" y="946699"/>
                  </a:lnTo>
                  <a:cubicBezTo>
                    <a:pt x="75175" y="946699"/>
                    <a:pt x="49152" y="935920"/>
                    <a:pt x="29966" y="916733"/>
                  </a:cubicBezTo>
                  <a:cubicBezTo>
                    <a:pt x="10779" y="897546"/>
                    <a:pt x="0" y="871523"/>
                    <a:pt x="0" y="844389"/>
                  </a:cubicBezTo>
                  <a:lnTo>
                    <a:pt x="0" y="102309"/>
                  </a:lnTo>
                  <a:cubicBezTo>
                    <a:pt x="0" y="45805"/>
                    <a:pt x="45805" y="0"/>
                    <a:pt x="102309" y="0"/>
                  </a:cubicBezTo>
                  <a:close/>
                </a:path>
              </a:pathLst>
            </a:custGeom>
            <a:solidFill>
              <a:srgbClr val="FF9900"/>
            </a:soli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98250" cy="1003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2474203" y="5156236"/>
            <a:ext cx="1827167" cy="3594496"/>
            <a:chOff x="0" y="0"/>
            <a:chExt cx="481229" cy="9466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229" cy="946699"/>
            </a:xfrm>
            <a:custGeom>
              <a:avLst/>
              <a:gdLst/>
              <a:ahLst/>
              <a:cxnLst/>
              <a:rect r="r" b="b" t="t" l="l"/>
              <a:pathLst>
                <a:path h="946699" w="481229">
                  <a:moveTo>
                    <a:pt x="105928" y="0"/>
                  </a:moveTo>
                  <a:lnTo>
                    <a:pt x="375301" y="0"/>
                  </a:lnTo>
                  <a:cubicBezTo>
                    <a:pt x="433804" y="0"/>
                    <a:pt x="481229" y="47426"/>
                    <a:pt x="481229" y="105928"/>
                  </a:cubicBezTo>
                  <a:lnTo>
                    <a:pt x="481229" y="840771"/>
                  </a:lnTo>
                  <a:cubicBezTo>
                    <a:pt x="481229" y="899273"/>
                    <a:pt x="433804" y="946699"/>
                    <a:pt x="375301" y="946699"/>
                  </a:cubicBezTo>
                  <a:lnTo>
                    <a:pt x="105928" y="946699"/>
                  </a:lnTo>
                  <a:cubicBezTo>
                    <a:pt x="47426" y="946699"/>
                    <a:pt x="0" y="899273"/>
                    <a:pt x="0" y="840771"/>
                  </a:cubicBezTo>
                  <a:lnTo>
                    <a:pt x="0" y="105928"/>
                  </a:lnTo>
                  <a:cubicBezTo>
                    <a:pt x="0" y="47426"/>
                    <a:pt x="47426" y="0"/>
                    <a:pt x="1059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81229" cy="1003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13889786" y="5703941"/>
            <a:ext cx="1999544" cy="3594496"/>
            <a:chOff x="0" y="0"/>
            <a:chExt cx="526629" cy="9466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6629" cy="946699"/>
            </a:xfrm>
            <a:custGeom>
              <a:avLst/>
              <a:gdLst/>
              <a:ahLst/>
              <a:cxnLst/>
              <a:rect r="r" b="b" t="t" l="l"/>
              <a:pathLst>
                <a:path h="946699" w="526629">
                  <a:moveTo>
                    <a:pt x="96796" y="0"/>
                  </a:moveTo>
                  <a:lnTo>
                    <a:pt x="429833" y="0"/>
                  </a:lnTo>
                  <a:cubicBezTo>
                    <a:pt x="455505" y="0"/>
                    <a:pt x="480125" y="10198"/>
                    <a:pt x="498278" y="28351"/>
                  </a:cubicBezTo>
                  <a:cubicBezTo>
                    <a:pt x="516431" y="46504"/>
                    <a:pt x="526629" y="71124"/>
                    <a:pt x="526629" y="96796"/>
                  </a:cubicBezTo>
                  <a:lnTo>
                    <a:pt x="526629" y="849902"/>
                  </a:lnTo>
                  <a:cubicBezTo>
                    <a:pt x="526629" y="875574"/>
                    <a:pt x="516431" y="900195"/>
                    <a:pt x="498278" y="918348"/>
                  </a:cubicBezTo>
                  <a:cubicBezTo>
                    <a:pt x="480125" y="936500"/>
                    <a:pt x="455505" y="946699"/>
                    <a:pt x="429833" y="946699"/>
                  </a:cubicBezTo>
                  <a:lnTo>
                    <a:pt x="96796" y="946699"/>
                  </a:lnTo>
                  <a:cubicBezTo>
                    <a:pt x="71124" y="946699"/>
                    <a:pt x="46504" y="936500"/>
                    <a:pt x="28351" y="918348"/>
                  </a:cubicBezTo>
                  <a:cubicBezTo>
                    <a:pt x="10198" y="900195"/>
                    <a:pt x="0" y="875574"/>
                    <a:pt x="0" y="849902"/>
                  </a:cubicBezTo>
                  <a:lnTo>
                    <a:pt x="0" y="96796"/>
                  </a:lnTo>
                  <a:cubicBezTo>
                    <a:pt x="0" y="71124"/>
                    <a:pt x="10198" y="46504"/>
                    <a:pt x="28351" y="28351"/>
                  </a:cubicBezTo>
                  <a:cubicBezTo>
                    <a:pt x="46504" y="10198"/>
                    <a:pt x="71124" y="0"/>
                    <a:pt x="96796" y="0"/>
                  </a:cubicBezTo>
                  <a:close/>
                </a:path>
              </a:pathLst>
            </a:custGeom>
            <a:solidFill>
              <a:srgbClr val="FF9900"/>
            </a:soli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26629" cy="1003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98746" y="4249570"/>
            <a:ext cx="2778081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Rendahnya motivasi dan konsentrasi siswa. Anggapan PKn membosankan dan identik dengan hafalan.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92080" y="4653838"/>
            <a:ext cx="2688784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Kurang memahami nilai Pancasila dan nasionalisme menurun. Rentan terhadap informasi negatif dan hoaks.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43394" y="6748883"/>
            <a:ext cx="2688784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Dominasi teknologi digital dan media sosial. Metode pembelajaran tidak inovatif dan keterbatasan fasilitas.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95680" y="7539408"/>
            <a:ext cx="2688784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Sikap disiplin, tanggung jawab, dan toleransi melemah. Perilaku individualistis meningkat.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98746" y="3909443"/>
            <a:ext cx="2086351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b="true" sz="1599">
                <a:solidFill>
                  <a:srgbClr val="E5EBF3"/>
                </a:solidFill>
                <a:latin typeface="Poppins Heavy"/>
                <a:ea typeface="Poppins Heavy"/>
                <a:cs typeface="Poppins Heavy"/>
                <a:sym typeface="Poppins Heavy"/>
              </a:rPr>
              <a:t>Penyebab Internal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41566" y="4270955"/>
            <a:ext cx="2580555" cy="42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b="true" sz="1599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Dampak pada Pemahaman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43394" y="6400041"/>
            <a:ext cx="2580555" cy="22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b="true" sz="1599">
                <a:solidFill>
                  <a:srgbClr val="E5EBF3"/>
                </a:solidFill>
                <a:latin typeface="Poppins Heavy"/>
                <a:ea typeface="Poppins Heavy"/>
                <a:cs typeface="Poppins Heavy"/>
                <a:sym typeface="Poppins Heavy"/>
              </a:rPr>
              <a:t>Penyebab Eksternal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95680" y="6903174"/>
            <a:ext cx="2580555" cy="42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99"/>
              </a:lnSpc>
            </a:pPr>
            <a:r>
              <a:rPr lang="en-US" b="true" sz="1599">
                <a:solidFill>
                  <a:srgbClr val="000000"/>
                </a:solidFill>
                <a:latin typeface="Poppins Heavy"/>
                <a:ea typeface="Poppins Heavy"/>
                <a:cs typeface="Poppins Heavy"/>
                <a:sym typeface="Poppins Heavy"/>
              </a:rPr>
              <a:t>Dampak pada Sikap dan Perilaku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479861">
            <a:off x="11857342" y="8262571"/>
            <a:ext cx="698071" cy="689187"/>
          </a:xfrm>
          <a:custGeom>
            <a:avLst/>
            <a:gdLst/>
            <a:ahLst/>
            <a:cxnLst/>
            <a:rect r="r" b="b" t="t" l="l"/>
            <a:pathLst>
              <a:path h="689187" w="698071">
                <a:moveTo>
                  <a:pt x="0" y="0"/>
                </a:moveTo>
                <a:lnTo>
                  <a:pt x="698072" y="0"/>
                </a:lnTo>
                <a:lnTo>
                  <a:pt x="698072" y="689187"/>
                </a:lnTo>
                <a:lnTo>
                  <a:pt x="0" y="6891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-652586">
            <a:off x="1622942" y="2421124"/>
            <a:ext cx="1416962" cy="463733"/>
          </a:xfrm>
          <a:custGeom>
            <a:avLst/>
            <a:gdLst/>
            <a:ahLst/>
            <a:cxnLst/>
            <a:rect r="r" b="b" t="t" l="l"/>
            <a:pathLst>
              <a:path h="463733" w="1416962">
                <a:moveTo>
                  <a:pt x="0" y="0"/>
                </a:moveTo>
                <a:lnTo>
                  <a:pt x="1416962" y="0"/>
                </a:lnTo>
                <a:lnTo>
                  <a:pt x="1416962" y="463733"/>
                </a:lnTo>
                <a:lnTo>
                  <a:pt x="0" y="4637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2700097" y="2759047"/>
            <a:ext cx="633136" cy="623977"/>
          </a:xfrm>
          <a:custGeom>
            <a:avLst/>
            <a:gdLst/>
            <a:ahLst/>
            <a:cxnLst/>
            <a:rect r="r" b="b" t="t" l="l"/>
            <a:pathLst>
              <a:path h="623977" w="633136">
                <a:moveTo>
                  <a:pt x="0" y="0"/>
                </a:moveTo>
                <a:lnTo>
                  <a:pt x="633136" y="0"/>
                </a:lnTo>
                <a:lnTo>
                  <a:pt x="633136" y="623977"/>
                </a:lnTo>
                <a:lnTo>
                  <a:pt x="0" y="623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4380797" y="8403472"/>
            <a:ext cx="813763" cy="813763"/>
          </a:xfrm>
          <a:custGeom>
            <a:avLst/>
            <a:gdLst/>
            <a:ahLst/>
            <a:cxnLst/>
            <a:rect r="r" b="b" t="t" l="l"/>
            <a:pathLst>
              <a:path h="813763" w="813763">
                <a:moveTo>
                  <a:pt x="0" y="0"/>
                </a:moveTo>
                <a:lnTo>
                  <a:pt x="813762" y="0"/>
                </a:lnTo>
                <a:lnTo>
                  <a:pt x="813762" y="813762"/>
                </a:lnTo>
                <a:lnTo>
                  <a:pt x="0" y="813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393">
                <a:alpha val="100000"/>
              </a:srgbClr>
            </a:gs>
            <a:gs pos="100000">
              <a:srgbClr val="0B225C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8940" y="1308819"/>
            <a:ext cx="4906980" cy="186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30"/>
              </a:lnSpc>
            </a:pPr>
            <a:r>
              <a:rPr lang="en-US" b="true" sz="16288" spc="-570">
                <a:solidFill>
                  <a:srgbClr val="E5EBF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Solusi &amp;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06952" y="3076667"/>
            <a:ext cx="5457935" cy="1865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30"/>
              </a:lnSpc>
            </a:pPr>
            <a:r>
              <a:rPr lang="en-US" b="true" sz="16288" spc="-570">
                <a:solidFill>
                  <a:srgbClr val="FF99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Inovasi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463734" y="149279"/>
            <a:ext cx="8252227" cy="5425839"/>
          </a:xfrm>
          <a:custGeom>
            <a:avLst/>
            <a:gdLst/>
            <a:ahLst/>
            <a:cxnLst/>
            <a:rect r="r" b="b" t="t" l="l"/>
            <a:pathLst>
              <a:path h="5425839" w="8252227">
                <a:moveTo>
                  <a:pt x="0" y="0"/>
                </a:moveTo>
                <a:lnTo>
                  <a:pt x="8252227" y="0"/>
                </a:lnTo>
                <a:lnTo>
                  <a:pt x="8252227" y="5425839"/>
                </a:lnTo>
                <a:lnTo>
                  <a:pt x="0" y="5425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86103" y="4891443"/>
            <a:ext cx="3492997" cy="1998681"/>
            <a:chOff x="0" y="0"/>
            <a:chExt cx="1759673" cy="10068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9673" cy="1006879"/>
            </a:xfrm>
            <a:custGeom>
              <a:avLst/>
              <a:gdLst/>
              <a:ahLst/>
              <a:cxnLst/>
              <a:rect r="r" b="b" t="t" l="l"/>
              <a:pathLst>
                <a:path h="1006879" w="1759673">
                  <a:moveTo>
                    <a:pt x="55410" y="0"/>
                  </a:moveTo>
                  <a:lnTo>
                    <a:pt x="1704263" y="0"/>
                  </a:lnTo>
                  <a:cubicBezTo>
                    <a:pt x="1718959" y="0"/>
                    <a:pt x="1733053" y="5838"/>
                    <a:pt x="1743444" y="16229"/>
                  </a:cubicBezTo>
                  <a:cubicBezTo>
                    <a:pt x="1753836" y="26621"/>
                    <a:pt x="1759673" y="40715"/>
                    <a:pt x="1759673" y="55410"/>
                  </a:cubicBezTo>
                  <a:lnTo>
                    <a:pt x="1759673" y="951469"/>
                  </a:lnTo>
                  <a:cubicBezTo>
                    <a:pt x="1759673" y="982071"/>
                    <a:pt x="1734865" y="1006879"/>
                    <a:pt x="1704263" y="1006879"/>
                  </a:cubicBezTo>
                  <a:lnTo>
                    <a:pt x="55410" y="1006879"/>
                  </a:lnTo>
                  <a:cubicBezTo>
                    <a:pt x="40715" y="1006879"/>
                    <a:pt x="26621" y="1001042"/>
                    <a:pt x="16229" y="990650"/>
                  </a:cubicBezTo>
                  <a:cubicBezTo>
                    <a:pt x="5838" y="980259"/>
                    <a:pt x="0" y="966165"/>
                    <a:pt x="0" y="951469"/>
                  </a:cubicBezTo>
                  <a:lnTo>
                    <a:pt x="0" y="55410"/>
                  </a:lnTo>
                  <a:cubicBezTo>
                    <a:pt x="0" y="40715"/>
                    <a:pt x="5838" y="26621"/>
                    <a:pt x="16229" y="16229"/>
                  </a:cubicBezTo>
                  <a:cubicBezTo>
                    <a:pt x="26621" y="5838"/>
                    <a:pt x="40715" y="0"/>
                    <a:pt x="554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59673" cy="1044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43954" y="4891443"/>
            <a:ext cx="3492997" cy="1998681"/>
            <a:chOff x="0" y="0"/>
            <a:chExt cx="1759673" cy="10068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9673" cy="1006879"/>
            </a:xfrm>
            <a:custGeom>
              <a:avLst/>
              <a:gdLst/>
              <a:ahLst/>
              <a:cxnLst/>
              <a:rect r="r" b="b" t="t" l="l"/>
              <a:pathLst>
                <a:path h="1006879" w="1759673">
                  <a:moveTo>
                    <a:pt x="55410" y="0"/>
                  </a:moveTo>
                  <a:lnTo>
                    <a:pt x="1704263" y="0"/>
                  </a:lnTo>
                  <a:cubicBezTo>
                    <a:pt x="1718959" y="0"/>
                    <a:pt x="1733053" y="5838"/>
                    <a:pt x="1743444" y="16229"/>
                  </a:cubicBezTo>
                  <a:cubicBezTo>
                    <a:pt x="1753836" y="26621"/>
                    <a:pt x="1759673" y="40715"/>
                    <a:pt x="1759673" y="55410"/>
                  </a:cubicBezTo>
                  <a:lnTo>
                    <a:pt x="1759673" y="951469"/>
                  </a:lnTo>
                  <a:cubicBezTo>
                    <a:pt x="1759673" y="982071"/>
                    <a:pt x="1734865" y="1006879"/>
                    <a:pt x="1704263" y="1006879"/>
                  </a:cubicBezTo>
                  <a:lnTo>
                    <a:pt x="55410" y="1006879"/>
                  </a:lnTo>
                  <a:cubicBezTo>
                    <a:pt x="40715" y="1006879"/>
                    <a:pt x="26621" y="1001042"/>
                    <a:pt x="16229" y="990650"/>
                  </a:cubicBezTo>
                  <a:cubicBezTo>
                    <a:pt x="5838" y="980259"/>
                    <a:pt x="0" y="966165"/>
                    <a:pt x="0" y="951469"/>
                  </a:cubicBezTo>
                  <a:lnTo>
                    <a:pt x="0" y="55410"/>
                  </a:lnTo>
                  <a:cubicBezTo>
                    <a:pt x="0" y="40715"/>
                    <a:pt x="5838" y="26621"/>
                    <a:pt x="16229" y="16229"/>
                  </a:cubicBezTo>
                  <a:cubicBezTo>
                    <a:pt x="26621" y="5838"/>
                    <a:pt x="40715" y="0"/>
                    <a:pt x="554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59673" cy="1044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55346" y="7156017"/>
            <a:ext cx="3612538" cy="2024575"/>
            <a:chOff x="0" y="0"/>
            <a:chExt cx="1819895" cy="10199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19895" cy="1019924"/>
            </a:xfrm>
            <a:custGeom>
              <a:avLst/>
              <a:gdLst/>
              <a:ahLst/>
              <a:cxnLst/>
              <a:rect r="r" b="b" t="t" l="l"/>
              <a:pathLst>
                <a:path h="1019924" w="1819895">
                  <a:moveTo>
                    <a:pt x="53577" y="0"/>
                  </a:moveTo>
                  <a:lnTo>
                    <a:pt x="1766318" y="0"/>
                  </a:lnTo>
                  <a:cubicBezTo>
                    <a:pt x="1780528" y="0"/>
                    <a:pt x="1794155" y="5645"/>
                    <a:pt x="1804203" y="15692"/>
                  </a:cubicBezTo>
                  <a:cubicBezTo>
                    <a:pt x="1814251" y="25740"/>
                    <a:pt x="1819895" y="39367"/>
                    <a:pt x="1819895" y="53577"/>
                  </a:cubicBezTo>
                  <a:lnTo>
                    <a:pt x="1819895" y="966347"/>
                  </a:lnTo>
                  <a:cubicBezTo>
                    <a:pt x="1819895" y="995937"/>
                    <a:pt x="1795908" y="1019924"/>
                    <a:pt x="1766318" y="1019924"/>
                  </a:cubicBezTo>
                  <a:lnTo>
                    <a:pt x="53577" y="1019924"/>
                  </a:lnTo>
                  <a:cubicBezTo>
                    <a:pt x="23987" y="1019924"/>
                    <a:pt x="0" y="995937"/>
                    <a:pt x="0" y="966347"/>
                  </a:cubicBezTo>
                  <a:lnTo>
                    <a:pt x="0" y="53577"/>
                  </a:lnTo>
                  <a:cubicBezTo>
                    <a:pt x="0" y="23987"/>
                    <a:pt x="23987" y="0"/>
                    <a:pt x="535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19895" cy="1058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26589" y="7101665"/>
            <a:ext cx="3694961" cy="1716201"/>
            <a:chOff x="0" y="0"/>
            <a:chExt cx="1759673" cy="8173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59673" cy="817317"/>
            </a:xfrm>
            <a:custGeom>
              <a:avLst/>
              <a:gdLst/>
              <a:ahLst/>
              <a:cxnLst/>
              <a:rect r="r" b="b" t="t" l="l"/>
              <a:pathLst>
                <a:path h="817317" w="1759673">
                  <a:moveTo>
                    <a:pt x="52382" y="0"/>
                  </a:moveTo>
                  <a:lnTo>
                    <a:pt x="1707292" y="0"/>
                  </a:lnTo>
                  <a:cubicBezTo>
                    <a:pt x="1736221" y="0"/>
                    <a:pt x="1759673" y="23452"/>
                    <a:pt x="1759673" y="52382"/>
                  </a:cubicBezTo>
                  <a:lnTo>
                    <a:pt x="1759673" y="764935"/>
                  </a:lnTo>
                  <a:cubicBezTo>
                    <a:pt x="1759673" y="778828"/>
                    <a:pt x="1754155" y="792151"/>
                    <a:pt x="1744331" y="801975"/>
                  </a:cubicBezTo>
                  <a:cubicBezTo>
                    <a:pt x="1734508" y="811798"/>
                    <a:pt x="1721184" y="817317"/>
                    <a:pt x="1707292" y="817317"/>
                  </a:cubicBezTo>
                  <a:lnTo>
                    <a:pt x="52382" y="817317"/>
                  </a:lnTo>
                  <a:cubicBezTo>
                    <a:pt x="23452" y="817317"/>
                    <a:pt x="0" y="793865"/>
                    <a:pt x="0" y="764935"/>
                  </a:cubicBezTo>
                  <a:lnTo>
                    <a:pt x="0" y="52382"/>
                  </a:lnTo>
                  <a:cubicBezTo>
                    <a:pt x="0" y="23452"/>
                    <a:pt x="23452" y="0"/>
                    <a:pt x="52382" y="0"/>
                  </a:cubicBezTo>
                  <a:close/>
                </a:path>
              </a:pathLst>
            </a:custGeom>
            <a:solidFill>
              <a:srgbClr val="FF9900"/>
            </a:soli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59673" cy="855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03764" y="5681971"/>
            <a:ext cx="2815637" cy="7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0"/>
              </a:lnSpc>
            </a:pPr>
            <a:r>
              <a:rPr lang="en-US" sz="1200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Gunakan video animasi, game edukasi, dan kuis online untuk membuat pembelajaran PKn lebih menarik dan interaktif bagi siswa.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61615" y="5681971"/>
            <a:ext cx="2673724" cy="7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0"/>
              </a:lnSpc>
            </a:pPr>
            <a:r>
              <a:rPr lang="en-US" sz="1200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Terapkan diskusi kelompok, role playing, dan project based learning untuk meningkatkan partisipasi aktif siswa.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73007" y="7946546"/>
            <a:ext cx="2638570" cy="7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0"/>
              </a:lnSpc>
            </a:pPr>
            <a:r>
              <a:rPr lang="en-US" sz="1200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Berikan pelatihan rutin bagi guru untuk meningkatkan kemampuan menggunakan teknologi digital dalam pembelajaran.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68399" y="7962816"/>
            <a:ext cx="2828319" cy="59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9"/>
              </a:lnSpc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Ajarkan etika bermedia sosial, bahaya hoaks, dan libatkan orang tua dalam mendampingi anak.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03764" y="5200454"/>
            <a:ext cx="1720228" cy="24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9"/>
              </a:lnSpc>
              <a:spcBef>
                <a:spcPct val="0"/>
              </a:spcBef>
            </a:pPr>
            <a:r>
              <a:rPr lang="en-US" b="true" sz="1356" spc="-100">
                <a:solidFill>
                  <a:srgbClr val="E5EBF3"/>
                </a:solidFill>
                <a:latin typeface="Poppins Bold"/>
                <a:ea typeface="Poppins Bold"/>
                <a:cs typeface="Poppins Bold"/>
                <a:sym typeface="Poppins Bold"/>
              </a:rPr>
              <a:t>Media Digital Interaktif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61615" y="5200454"/>
            <a:ext cx="2397884" cy="24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9"/>
              </a:lnSpc>
              <a:spcBef>
                <a:spcPct val="0"/>
              </a:spcBef>
            </a:pPr>
            <a:r>
              <a:rPr lang="en-US" b="true" sz="1356" spc="-100">
                <a:solidFill>
                  <a:srgbClr val="E5EBF3"/>
                </a:solidFill>
                <a:latin typeface="Poppins Bold"/>
                <a:ea typeface="Poppins Bold"/>
                <a:cs typeface="Poppins Bold"/>
                <a:sym typeface="Poppins Bold"/>
              </a:rPr>
              <a:t>Metode Pembelajaran Kreatif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73007" y="7465028"/>
            <a:ext cx="2478645" cy="24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9"/>
              </a:lnSpc>
              <a:spcBef>
                <a:spcPct val="0"/>
              </a:spcBef>
            </a:pPr>
            <a:r>
              <a:rPr lang="en-US" b="true" sz="1356" spc="-100">
                <a:solidFill>
                  <a:srgbClr val="E5EBF3"/>
                </a:solidFill>
                <a:latin typeface="Poppins Bold"/>
                <a:ea typeface="Poppins Bold"/>
                <a:cs typeface="Poppins Bold"/>
                <a:sym typeface="Poppins Bold"/>
              </a:rPr>
              <a:t>Kompetensi Digital Guru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68399" y="7464083"/>
            <a:ext cx="2496862" cy="21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99"/>
              </a:lnSpc>
              <a:spcBef>
                <a:spcPct val="0"/>
              </a:spcBef>
            </a:pPr>
            <a:r>
              <a:rPr lang="en-US" b="true" sz="1285" spc="-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Literasi Digital &amp; Kerja Sama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86103" y="3607837"/>
            <a:ext cx="730740" cy="730740"/>
          </a:xfrm>
          <a:custGeom>
            <a:avLst/>
            <a:gdLst/>
            <a:ahLst/>
            <a:cxnLst/>
            <a:rect r="r" b="b" t="t" l="l"/>
            <a:pathLst>
              <a:path h="730740" w="730740">
                <a:moveTo>
                  <a:pt x="0" y="0"/>
                </a:moveTo>
                <a:lnTo>
                  <a:pt x="730740" y="0"/>
                </a:lnTo>
                <a:lnTo>
                  <a:pt x="730740" y="730740"/>
                </a:lnTo>
                <a:lnTo>
                  <a:pt x="0" y="730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8957827">
            <a:off x="15203346" y="7782330"/>
            <a:ext cx="807173" cy="771950"/>
          </a:xfrm>
          <a:custGeom>
            <a:avLst/>
            <a:gdLst/>
            <a:ahLst/>
            <a:cxnLst/>
            <a:rect r="r" b="b" t="t" l="l"/>
            <a:pathLst>
              <a:path h="771950" w="807173">
                <a:moveTo>
                  <a:pt x="0" y="0"/>
                </a:moveTo>
                <a:lnTo>
                  <a:pt x="807172" y="0"/>
                </a:lnTo>
                <a:lnTo>
                  <a:pt x="807172" y="771950"/>
                </a:lnTo>
                <a:lnTo>
                  <a:pt x="0" y="7719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718923">
            <a:off x="11159515" y="4062056"/>
            <a:ext cx="563283" cy="553042"/>
          </a:xfrm>
          <a:custGeom>
            <a:avLst/>
            <a:gdLst/>
            <a:ahLst/>
            <a:cxnLst/>
            <a:rect r="r" b="b" t="t" l="l"/>
            <a:pathLst>
              <a:path h="553042" w="563283">
                <a:moveTo>
                  <a:pt x="0" y="0"/>
                </a:moveTo>
                <a:lnTo>
                  <a:pt x="563284" y="0"/>
                </a:lnTo>
                <a:lnTo>
                  <a:pt x="563284" y="553042"/>
                </a:lnTo>
                <a:lnTo>
                  <a:pt x="0" y="5530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8059499" y="1995897"/>
            <a:ext cx="519340" cy="512731"/>
          </a:xfrm>
          <a:custGeom>
            <a:avLst/>
            <a:gdLst/>
            <a:ahLst/>
            <a:cxnLst/>
            <a:rect r="r" b="b" t="t" l="l"/>
            <a:pathLst>
              <a:path h="512731" w="519340">
                <a:moveTo>
                  <a:pt x="0" y="0"/>
                </a:moveTo>
                <a:lnTo>
                  <a:pt x="519341" y="0"/>
                </a:lnTo>
                <a:lnTo>
                  <a:pt x="519341" y="512731"/>
                </a:lnTo>
                <a:lnTo>
                  <a:pt x="0" y="5127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9422751" y="6095933"/>
            <a:ext cx="563707" cy="556533"/>
          </a:xfrm>
          <a:custGeom>
            <a:avLst/>
            <a:gdLst/>
            <a:ahLst/>
            <a:cxnLst/>
            <a:rect r="r" b="b" t="t" l="l"/>
            <a:pathLst>
              <a:path h="556533" w="563707">
                <a:moveTo>
                  <a:pt x="0" y="0"/>
                </a:moveTo>
                <a:lnTo>
                  <a:pt x="563707" y="0"/>
                </a:lnTo>
                <a:lnTo>
                  <a:pt x="563707" y="556533"/>
                </a:lnTo>
                <a:lnTo>
                  <a:pt x="0" y="556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393">
                <a:alpha val="100000"/>
              </a:srgbClr>
            </a:gs>
            <a:gs pos="100000">
              <a:srgbClr val="0B225C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19322"/>
            <a:ext cx="7166215" cy="163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43"/>
              </a:lnSpc>
            </a:pPr>
            <a:r>
              <a:rPr lang="en-US" b="true" sz="14303" spc="-500">
                <a:solidFill>
                  <a:srgbClr val="E5EBF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Rekomendasi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35976" y="1424740"/>
            <a:ext cx="3683924" cy="2112970"/>
            <a:chOff x="0" y="0"/>
            <a:chExt cx="1580850" cy="9067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0851" cy="906721"/>
            </a:xfrm>
            <a:custGeom>
              <a:avLst/>
              <a:gdLst/>
              <a:ahLst/>
              <a:cxnLst/>
              <a:rect r="r" b="b" t="t" l="l"/>
              <a:pathLst>
                <a:path h="906721" w="1580851">
                  <a:moveTo>
                    <a:pt x="52539" y="0"/>
                  </a:moveTo>
                  <a:lnTo>
                    <a:pt x="1528312" y="0"/>
                  </a:lnTo>
                  <a:cubicBezTo>
                    <a:pt x="1557328" y="0"/>
                    <a:pt x="1580851" y="23522"/>
                    <a:pt x="1580851" y="52539"/>
                  </a:cubicBezTo>
                  <a:lnTo>
                    <a:pt x="1580851" y="854182"/>
                  </a:lnTo>
                  <a:cubicBezTo>
                    <a:pt x="1580851" y="868116"/>
                    <a:pt x="1575315" y="881480"/>
                    <a:pt x="1565462" y="891332"/>
                  </a:cubicBezTo>
                  <a:cubicBezTo>
                    <a:pt x="1555609" y="901185"/>
                    <a:pt x="1542246" y="906721"/>
                    <a:pt x="1528312" y="906721"/>
                  </a:cubicBezTo>
                  <a:lnTo>
                    <a:pt x="52539" y="906721"/>
                  </a:lnTo>
                  <a:cubicBezTo>
                    <a:pt x="23522" y="906721"/>
                    <a:pt x="0" y="883198"/>
                    <a:pt x="0" y="854182"/>
                  </a:cubicBezTo>
                  <a:lnTo>
                    <a:pt x="0" y="52539"/>
                  </a:lnTo>
                  <a:cubicBezTo>
                    <a:pt x="0" y="23522"/>
                    <a:pt x="23522" y="0"/>
                    <a:pt x="525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80850" cy="944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615199" y="2172698"/>
            <a:ext cx="3683924" cy="2112970"/>
            <a:chOff x="0" y="0"/>
            <a:chExt cx="1580850" cy="9067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0851" cy="906721"/>
            </a:xfrm>
            <a:custGeom>
              <a:avLst/>
              <a:gdLst/>
              <a:ahLst/>
              <a:cxnLst/>
              <a:rect r="r" b="b" t="t" l="l"/>
              <a:pathLst>
                <a:path h="906721" w="1580851">
                  <a:moveTo>
                    <a:pt x="52539" y="0"/>
                  </a:moveTo>
                  <a:lnTo>
                    <a:pt x="1528312" y="0"/>
                  </a:lnTo>
                  <a:cubicBezTo>
                    <a:pt x="1557328" y="0"/>
                    <a:pt x="1580851" y="23522"/>
                    <a:pt x="1580851" y="52539"/>
                  </a:cubicBezTo>
                  <a:lnTo>
                    <a:pt x="1580851" y="854182"/>
                  </a:lnTo>
                  <a:cubicBezTo>
                    <a:pt x="1580851" y="868116"/>
                    <a:pt x="1575315" y="881480"/>
                    <a:pt x="1565462" y="891332"/>
                  </a:cubicBezTo>
                  <a:cubicBezTo>
                    <a:pt x="1555609" y="901185"/>
                    <a:pt x="1542246" y="906721"/>
                    <a:pt x="1528312" y="906721"/>
                  </a:cubicBezTo>
                  <a:lnTo>
                    <a:pt x="52539" y="906721"/>
                  </a:lnTo>
                  <a:cubicBezTo>
                    <a:pt x="23522" y="906721"/>
                    <a:pt x="0" y="883198"/>
                    <a:pt x="0" y="854182"/>
                  </a:cubicBezTo>
                  <a:lnTo>
                    <a:pt x="0" y="52539"/>
                  </a:lnTo>
                  <a:cubicBezTo>
                    <a:pt x="0" y="23522"/>
                    <a:pt x="23522" y="0"/>
                    <a:pt x="525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80850" cy="944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94915" y="3917156"/>
            <a:ext cx="3515129" cy="2131890"/>
            <a:chOff x="0" y="0"/>
            <a:chExt cx="1580850" cy="9587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80851" cy="958770"/>
            </a:xfrm>
            <a:custGeom>
              <a:avLst/>
              <a:gdLst/>
              <a:ahLst/>
              <a:cxnLst/>
              <a:rect r="r" b="b" t="t" l="l"/>
              <a:pathLst>
                <a:path h="958770" w="1580851">
                  <a:moveTo>
                    <a:pt x="55061" y="0"/>
                  </a:moveTo>
                  <a:lnTo>
                    <a:pt x="1525789" y="0"/>
                  </a:lnTo>
                  <a:cubicBezTo>
                    <a:pt x="1556199" y="0"/>
                    <a:pt x="1580851" y="24652"/>
                    <a:pt x="1580851" y="55061"/>
                  </a:cubicBezTo>
                  <a:lnTo>
                    <a:pt x="1580851" y="903708"/>
                  </a:lnTo>
                  <a:cubicBezTo>
                    <a:pt x="1580851" y="934118"/>
                    <a:pt x="1556199" y="958770"/>
                    <a:pt x="1525789" y="958770"/>
                  </a:cubicBezTo>
                  <a:lnTo>
                    <a:pt x="55061" y="958770"/>
                  </a:lnTo>
                  <a:cubicBezTo>
                    <a:pt x="24652" y="958770"/>
                    <a:pt x="0" y="934118"/>
                    <a:pt x="0" y="903708"/>
                  </a:cubicBezTo>
                  <a:lnTo>
                    <a:pt x="0" y="55061"/>
                  </a:lnTo>
                  <a:cubicBezTo>
                    <a:pt x="0" y="24652"/>
                    <a:pt x="24652" y="0"/>
                    <a:pt x="550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80850" cy="996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926256" y="2299641"/>
            <a:ext cx="2783788" cy="98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0"/>
              </a:lnSpc>
            </a:pPr>
            <a:r>
              <a:rPr lang="en-US" sz="1200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Mengembangkan metode pembelajaran kreatif dan inovatif seperti diskusi, role playing, dan project based learning untuk meningkatkan minat siswa.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05517" y="3118098"/>
            <a:ext cx="2841508" cy="78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0"/>
              </a:lnSpc>
            </a:pPr>
            <a:r>
              <a:rPr lang="en-US" sz="1200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Menyediakan fasilitas teknologi yang memadai di sekolah serta memberikan pelatihan literasi digital berkelanjutan bagi guru.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62731" y="4751097"/>
            <a:ext cx="2538371" cy="116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0"/>
              </a:lnSpc>
            </a:pPr>
            <a:r>
              <a:rPr lang="en-US" sz="1200">
                <a:solidFill>
                  <a:srgbClr val="E5EBF3"/>
                </a:solidFill>
                <a:latin typeface="Poppins"/>
                <a:ea typeface="Poppins"/>
                <a:cs typeface="Poppins"/>
                <a:sym typeface="Poppins"/>
              </a:rPr>
              <a:t>Orang tua aktif mengawasi dan membimbing penggunaan teknologi anak. Pembelajaran PKn disesuaikan dengan era digital tanpa menghilangkan nilai karakter.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26256" y="1763322"/>
            <a:ext cx="2872149" cy="28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2"/>
              </a:lnSpc>
              <a:spcBef>
                <a:spcPct val="0"/>
              </a:spcBef>
            </a:pPr>
            <a:r>
              <a:rPr lang="en-US" b="true" sz="1594" spc="-117">
                <a:solidFill>
                  <a:srgbClr val="E5EBF3"/>
                </a:solidFill>
                <a:latin typeface="Poppins Bold"/>
                <a:ea typeface="Poppins Bold"/>
                <a:cs typeface="Poppins Bold"/>
                <a:sym typeface="Poppins Bold"/>
              </a:rPr>
              <a:t>Peran Guru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05517" y="2532568"/>
            <a:ext cx="2601221" cy="289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2"/>
              </a:lnSpc>
              <a:spcBef>
                <a:spcPct val="0"/>
              </a:spcBef>
            </a:pPr>
            <a:r>
              <a:rPr lang="en-US" b="true" sz="1594" spc="-117">
                <a:solidFill>
                  <a:srgbClr val="E5EBF3"/>
                </a:solidFill>
                <a:latin typeface="Poppins Bold"/>
                <a:ea typeface="Poppins Bold"/>
                <a:cs typeface="Poppins Bold"/>
                <a:sym typeface="Poppins Bold"/>
              </a:rPr>
              <a:t>Peran Sekolah &amp; Pemerintah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62731" y="4238043"/>
            <a:ext cx="2088226" cy="27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0"/>
              </a:lnSpc>
              <a:spcBef>
                <a:spcPct val="0"/>
              </a:spcBef>
            </a:pPr>
            <a:r>
              <a:rPr lang="en-US" b="true" sz="1521" spc="-112">
                <a:solidFill>
                  <a:srgbClr val="E5EBF3"/>
                </a:solidFill>
                <a:latin typeface="Poppins Bold"/>
                <a:ea typeface="Poppins Bold"/>
                <a:cs typeface="Poppins Bold"/>
                <a:sym typeface="Poppins Bold"/>
              </a:rPr>
              <a:t>Peran Orang Tua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02526" y="1650963"/>
            <a:ext cx="6849333" cy="4220901"/>
          </a:xfrm>
          <a:custGeom>
            <a:avLst/>
            <a:gdLst/>
            <a:ahLst/>
            <a:cxnLst/>
            <a:rect r="r" b="b" t="t" l="l"/>
            <a:pathLst>
              <a:path h="4220901" w="6849333">
                <a:moveTo>
                  <a:pt x="0" y="0"/>
                </a:moveTo>
                <a:lnTo>
                  <a:pt x="6849332" y="0"/>
                </a:lnTo>
                <a:lnTo>
                  <a:pt x="6849332" y="4220901"/>
                </a:lnTo>
                <a:lnTo>
                  <a:pt x="0" y="4220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726374" y="4898636"/>
            <a:ext cx="5462554" cy="3967180"/>
          </a:xfrm>
          <a:custGeom>
            <a:avLst/>
            <a:gdLst/>
            <a:ahLst/>
            <a:cxnLst/>
            <a:rect r="r" b="b" t="t" l="l"/>
            <a:pathLst>
              <a:path h="3967180" w="5462554">
                <a:moveTo>
                  <a:pt x="0" y="0"/>
                </a:moveTo>
                <a:lnTo>
                  <a:pt x="5462554" y="0"/>
                </a:lnTo>
                <a:lnTo>
                  <a:pt x="5462554" y="3967180"/>
                </a:lnTo>
                <a:lnTo>
                  <a:pt x="0" y="3967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374777" y="4770147"/>
            <a:ext cx="730740" cy="730740"/>
          </a:xfrm>
          <a:custGeom>
            <a:avLst/>
            <a:gdLst/>
            <a:ahLst/>
            <a:cxnLst/>
            <a:rect r="r" b="b" t="t" l="l"/>
            <a:pathLst>
              <a:path h="730740" w="730740">
                <a:moveTo>
                  <a:pt x="0" y="0"/>
                </a:moveTo>
                <a:lnTo>
                  <a:pt x="730740" y="0"/>
                </a:lnTo>
                <a:lnTo>
                  <a:pt x="730740" y="730740"/>
                </a:lnTo>
                <a:lnTo>
                  <a:pt x="0" y="730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8957827">
            <a:off x="10253427" y="7915509"/>
            <a:ext cx="807173" cy="771950"/>
          </a:xfrm>
          <a:custGeom>
            <a:avLst/>
            <a:gdLst/>
            <a:ahLst/>
            <a:cxnLst/>
            <a:rect r="r" b="b" t="t" l="l"/>
            <a:pathLst>
              <a:path h="771950" w="807173">
                <a:moveTo>
                  <a:pt x="0" y="0"/>
                </a:moveTo>
                <a:lnTo>
                  <a:pt x="807173" y="0"/>
                </a:lnTo>
                <a:lnTo>
                  <a:pt x="807173" y="771950"/>
                </a:lnTo>
                <a:lnTo>
                  <a:pt x="0" y="771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718923">
            <a:off x="8644614" y="6838367"/>
            <a:ext cx="563283" cy="553042"/>
          </a:xfrm>
          <a:custGeom>
            <a:avLst/>
            <a:gdLst/>
            <a:ahLst/>
            <a:cxnLst/>
            <a:rect r="r" b="b" t="t" l="l"/>
            <a:pathLst>
              <a:path h="553042" w="563283">
                <a:moveTo>
                  <a:pt x="0" y="0"/>
                </a:moveTo>
                <a:lnTo>
                  <a:pt x="563284" y="0"/>
                </a:lnTo>
                <a:lnTo>
                  <a:pt x="563284" y="553042"/>
                </a:lnTo>
                <a:lnTo>
                  <a:pt x="0" y="5530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7361774" y="3306638"/>
            <a:ext cx="578902" cy="571534"/>
          </a:xfrm>
          <a:custGeom>
            <a:avLst/>
            <a:gdLst/>
            <a:ahLst/>
            <a:cxnLst/>
            <a:rect r="r" b="b" t="t" l="l"/>
            <a:pathLst>
              <a:path h="571534" w="578902">
                <a:moveTo>
                  <a:pt x="0" y="0"/>
                </a:moveTo>
                <a:lnTo>
                  <a:pt x="578902" y="0"/>
                </a:lnTo>
                <a:lnTo>
                  <a:pt x="578902" y="571535"/>
                </a:lnTo>
                <a:lnTo>
                  <a:pt x="0" y="5715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6299123" y="1338658"/>
            <a:ext cx="631281" cy="623247"/>
          </a:xfrm>
          <a:custGeom>
            <a:avLst/>
            <a:gdLst/>
            <a:ahLst/>
            <a:cxnLst/>
            <a:rect r="r" b="b" t="t" l="l"/>
            <a:pathLst>
              <a:path h="623247" w="631281">
                <a:moveTo>
                  <a:pt x="0" y="0"/>
                </a:moveTo>
                <a:lnTo>
                  <a:pt x="631281" y="0"/>
                </a:lnTo>
                <a:lnTo>
                  <a:pt x="631281" y="623247"/>
                </a:lnTo>
                <a:lnTo>
                  <a:pt x="0" y="6232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D3393">
                <a:alpha val="100000"/>
              </a:srgbClr>
            </a:gs>
            <a:gs pos="100000">
              <a:srgbClr val="0B225C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9913"/>
            <a:ext cx="5825454" cy="234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07"/>
              </a:lnSpc>
            </a:pPr>
            <a:r>
              <a:rPr lang="en-US" b="true" sz="20509" spc="-717">
                <a:solidFill>
                  <a:srgbClr val="E5EBF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Terima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732579"/>
            <a:ext cx="5075744" cy="234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07"/>
              </a:lnSpc>
            </a:pPr>
            <a:r>
              <a:rPr lang="en-US" b="true" sz="20509" spc="-717">
                <a:solidFill>
                  <a:srgbClr val="FF99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Kasih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2838" y="8228860"/>
            <a:ext cx="2407296" cy="664914"/>
            <a:chOff x="0" y="0"/>
            <a:chExt cx="634020" cy="1751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4020" cy="175121"/>
            </a:xfrm>
            <a:custGeom>
              <a:avLst/>
              <a:gdLst/>
              <a:ahLst/>
              <a:cxnLst/>
              <a:rect r="r" b="b" t="t" l="l"/>
              <a:pathLst>
                <a:path h="175121" w="634020">
                  <a:moveTo>
                    <a:pt x="87561" y="0"/>
                  </a:moveTo>
                  <a:lnTo>
                    <a:pt x="546460" y="0"/>
                  </a:lnTo>
                  <a:cubicBezTo>
                    <a:pt x="594818" y="0"/>
                    <a:pt x="634020" y="39202"/>
                    <a:pt x="634020" y="87561"/>
                  </a:cubicBezTo>
                  <a:lnTo>
                    <a:pt x="634020" y="87561"/>
                  </a:lnTo>
                  <a:cubicBezTo>
                    <a:pt x="634020" y="135919"/>
                    <a:pt x="594818" y="175121"/>
                    <a:pt x="546460" y="175121"/>
                  </a:cubicBezTo>
                  <a:lnTo>
                    <a:pt x="87561" y="175121"/>
                  </a:lnTo>
                  <a:cubicBezTo>
                    <a:pt x="39202" y="175121"/>
                    <a:pt x="0" y="135919"/>
                    <a:pt x="0" y="87561"/>
                  </a:cubicBezTo>
                  <a:lnTo>
                    <a:pt x="0" y="87561"/>
                  </a:lnTo>
                  <a:cubicBezTo>
                    <a:pt x="0" y="39202"/>
                    <a:pt x="39202" y="0"/>
                    <a:pt x="87561" y="0"/>
                  </a:cubicBezTo>
                  <a:close/>
                </a:path>
              </a:pathLst>
            </a:custGeom>
            <a:solidFill>
              <a:srgbClr val="FF9900"/>
            </a:solidFill>
            <a:ln w="9525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634020" cy="241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22360" y="8228860"/>
            <a:ext cx="3097656" cy="664914"/>
            <a:chOff x="0" y="0"/>
            <a:chExt cx="815844" cy="1751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5844" cy="175121"/>
            </a:xfrm>
            <a:custGeom>
              <a:avLst/>
              <a:gdLst/>
              <a:ahLst/>
              <a:cxnLst/>
              <a:rect r="r" b="b" t="t" l="l"/>
              <a:pathLst>
                <a:path h="175121" w="815844">
                  <a:moveTo>
                    <a:pt x="87561" y="0"/>
                  </a:moveTo>
                  <a:lnTo>
                    <a:pt x="728283" y="0"/>
                  </a:lnTo>
                  <a:cubicBezTo>
                    <a:pt x="776641" y="0"/>
                    <a:pt x="815844" y="39202"/>
                    <a:pt x="815844" y="87561"/>
                  </a:cubicBezTo>
                  <a:lnTo>
                    <a:pt x="815844" y="87561"/>
                  </a:lnTo>
                  <a:cubicBezTo>
                    <a:pt x="815844" y="135919"/>
                    <a:pt x="776641" y="175121"/>
                    <a:pt x="728283" y="175121"/>
                  </a:cubicBezTo>
                  <a:lnTo>
                    <a:pt x="87561" y="175121"/>
                  </a:lnTo>
                  <a:cubicBezTo>
                    <a:pt x="39202" y="175121"/>
                    <a:pt x="0" y="135919"/>
                    <a:pt x="0" y="87561"/>
                  </a:cubicBezTo>
                  <a:lnTo>
                    <a:pt x="0" y="87561"/>
                  </a:lnTo>
                  <a:cubicBezTo>
                    <a:pt x="0" y="39202"/>
                    <a:pt x="39202" y="0"/>
                    <a:pt x="87561" y="0"/>
                  </a:cubicBezTo>
                  <a:close/>
                </a:path>
              </a:pathLst>
            </a:custGeom>
            <a:solidFill>
              <a:srgbClr val="FF9900"/>
            </a:solidFill>
            <a:ln w="9525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815844" cy="241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80352" y="8418442"/>
            <a:ext cx="1772267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Melynawaty JK. Nadi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57093" y="8418442"/>
            <a:ext cx="2512452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Universitas Muhammadiyah Gorontalo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823220" y="1764057"/>
            <a:ext cx="8291637" cy="7645042"/>
          </a:xfrm>
          <a:custGeom>
            <a:avLst/>
            <a:gdLst/>
            <a:ahLst/>
            <a:cxnLst/>
            <a:rect r="r" b="b" t="t" l="l"/>
            <a:pathLst>
              <a:path h="7645042" w="8291637">
                <a:moveTo>
                  <a:pt x="0" y="0"/>
                </a:moveTo>
                <a:lnTo>
                  <a:pt x="8291637" y="0"/>
                </a:lnTo>
                <a:lnTo>
                  <a:pt x="8291637" y="7645042"/>
                </a:lnTo>
                <a:lnTo>
                  <a:pt x="0" y="7645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37626" y="5979106"/>
            <a:ext cx="5988511" cy="1760484"/>
            <a:chOff x="0" y="0"/>
            <a:chExt cx="1577221" cy="4636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77221" cy="463667"/>
            </a:xfrm>
            <a:custGeom>
              <a:avLst/>
              <a:gdLst/>
              <a:ahLst/>
              <a:cxnLst/>
              <a:rect r="r" b="b" t="t" l="l"/>
              <a:pathLst>
                <a:path h="463667" w="1577221">
                  <a:moveTo>
                    <a:pt x="32320" y="0"/>
                  </a:moveTo>
                  <a:lnTo>
                    <a:pt x="1544901" y="0"/>
                  </a:lnTo>
                  <a:cubicBezTo>
                    <a:pt x="1562751" y="0"/>
                    <a:pt x="1577221" y="14470"/>
                    <a:pt x="1577221" y="32320"/>
                  </a:cubicBezTo>
                  <a:lnTo>
                    <a:pt x="1577221" y="431347"/>
                  </a:lnTo>
                  <a:cubicBezTo>
                    <a:pt x="1577221" y="449196"/>
                    <a:pt x="1562751" y="463667"/>
                    <a:pt x="1544901" y="463667"/>
                  </a:cubicBezTo>
                  <a:lnTo>
                    <a:pt x="32320" y="463667"/>
                  </a:lnTo>
                  <a:cubicBezTo>
                    <a:pt x="14470" y="463667"/>
                    <a:pt x="0" y="449196"/>
                    <a:pt x="0" y="431347"/>
                  </a:cubicBezTo>
                  <a:lnTo>
                    <a:pt x="0" y="32320"/>
                  </a:lnTo>
                  <a:cubicBezTo>
                    <a:pt x="0" y="14470"/>
                    <a:pt x="14470" y="0"/>
                    <a:pt x="323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B52DC">
                    <a:alpha val="100000"/>
                  </a:srgbClr>
                </a:gs>
                <a:gs pos="100000">
                  <a:srgbClr val="0B225C">
                    <a:alpha val="100000"/>
                  </a:srgbClr>
                </a:gs>
              </a:gsLst>
              <a:lin ang="5400000"/>
            </a:gradFill>
            <a:ln w="9525" cap="rnd">
              <a:solidFill>
                <a:srgbClr val="E5EBF3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577221" cy="530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42784" y="6390401"/>
            <a:ext cx="5178195" cy="48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3"/>
              </a:lnSpc>
              <a:spcBef>
                <a:spcPct val="0"/>
              </a:spcBef>
            </a:pPr>
            <a:r>
              <a:rPr lang="en-US" b="true" sz="1359" spc="-33">
                <a:solidFill>
                  <a:srgbClr val="E5EBF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Mari bersama membangun pembelajaran PKn yang menarik dan bermakna di era digital. Pertanyaan?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2700000">
            <a:off x="6494433" y="3628066"/>
            <a:ext cx="1692641" cy="1804172"/>
          </a:xfrm>
          <a:custGeom>
            <a:avLst/>
            <a:gdLst/>
            <a:ahLst/>
            <a:cxnLst/>
            <a:rect r="r" b="b" t="t" l="l"/>
            <a:pathLst>
              <a:path h="1804172" w="1692641">
                <a:moveTo>
                  <a:pt x="1692641" y="0"/>
                </a:moveTo>
                <a:lnTo>
                  <a:pt x="0" y="0"/>
                </a:lnTo>
                <a:lnTo>
                  <a:pt x="0" y="1804172"/>
                </a:lnTo>
                <a:lnTo>
                  <a:pt x="1692641" y="1804172"/>
                </a:lnTo>
                <a:lnTo>
                  <a:pt x="169264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2925252">
            <a:off x="12338991" y="1701050"/>
            <a:ext cx="677407" cy="771374"/>
          </a:xfrm>
          <a:custGeom>
            <a:avLst/>
            <a:gdLst/>
            <a:ahLst/>
            <a:cxnLst/>
            <a:rect r="r" b="b" t="t" l="l"/>
            <a:pathLst>
              <a:path h="771374" w="677407">
                <a:moveTo>
                  <a:pt x="0" y="0"/>
                </a:moveTo>
                <a:lnTo>
                  <a:pt x="677407" y="0"/>
                </a:lnTo>
                <a:lnTo>
                  <a:pt x="677407" y="771374"/>
                </a:lnTo>
                <a:lnTo>
                  <a:pt x="0" y="77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929488" y="2230314"/>
            <a:ext cx="730740" cy="730740"/>
          </a:xfrm>
          <a:custGeom>
            <a:avLst/>
            <a:gdLst/>
            <a:ahLst/>
            <a:cxnLst/>
            <a:rect r="r" b="b" t="t" l="l"/>
            <a:pathLst>
              <a:path h="730740" w="730740">
                <a:moveTo>
                  <a:pt x="0" y="0"/>
                </a:moveTo>
                <a:lnTo>
                  <a:pt x="730741" y="0"/>
                </a:lnTo>
                <a:lnTo>
                  <a:pt x="730741" y="730740"/>
                </a:lnTo>
                <a:lnTo>
                  <a:pt x="0" y="730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8957827">
            <a:off x="15717796" y="2575079"/>
            <a:ext cx="807173" cy="771950"/>
          </a:xfrm>
          <a:custGeom>
            <a:avLst/>
            <a:gdLst/>
            <a:ahLst/>
            <a:cxnLst/>
            <a:rect r="r" b="b" t="t" l="l"/>
            <a:pathLst>
              <a:path h="771950" w="807173">
                <a:moveTo>
                  <a:pt x="0" y="0"/>
                </a:moveTo>
                <a:lnTo>
                  <a:pt x="807172" y="0"/>
                </a:lnTo>
                <a:lnTo>
                  <a:pt x="807172" y="771950"/>
                </a:lnTo>
                <a:lnTo>
                  <a:pt x="0" y="7719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718923">
            <a:off x="7889127" y="7430051"/>
            <a:ext cx="630543" cy="619079"/>
          </a:xfrm>
          <a:custGeom>
            <a:avLst/>
            <a:gdLst/>
            <a:ahLst/>
            <a:cxnLst/>
            <a:rect r="r" b="b" t="t" l="l"/>
            <a:pathLst>
              <a:path h="619079" w="630543">
                <a:moveTo>
                  <a:pt x="0" y="0"/>
                </a:moveTo>
                <a:lnTo>
                  <a:pt x="630543" y="0"/>
                </a:lnTo>
                <a:lnTo>
                  <a:pt x="630543" y="619078"/>
                </a:lnTo>
                <a:lnTo>
                  <a:pt x="0" y="6190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DAHJpSNwB18</dc:identifier>
  <dcterms:modified xsi:type="dcterms:W3CDTF">2011-08-01T06:04:30Z</dcterms:modified>
  <cp:revision>1</cp:revision>
  <dc:title>PKn di Era Digital: Hambatan &amp; Solusi Sekolah Dasar</dc:title>
</cp:coreProperties>
</file>