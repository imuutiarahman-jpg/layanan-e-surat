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0104100" cy="11315700"/>
  <p:notesSz cx="20104100" cy="11315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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/Relationships>

</file>

<file path=ppt/slides/_rels/slide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Relationship Id="rId11" Type="http://schemas.openxmlformats.org/officeDocument/2006/relationships/image" Target="../media/image32.jpg"/><Relationship Id="rId12" Type="http://schemas.openxmlformats.org/officeDocument/2006/relationships/image" Target="../media/image33.jpg"/><Relationship Id="rId13" Type="http://schemas.openxmlformats.org/officeDocument/2006/relationships/image" Target="../media/image34.jpg"/><Relationship Id="rId14" Type="http://schemas.openxmlformats.org/officeDocument/2006/relationships/image" Target="../media/image35.jpg"/></Relationships>

</file>

<file path=ppt/slides/_rels/slide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/Relationships>

</file>

<file path=ppt/slides/_rels/slide4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Relationship Id="rId12" Type="http://schemas.openxmlformats.org/officeDocument/2006/relationships/image" Target="../media/image52.jpg"/><Relationship Id="rId13" Type="http://schemas.openxmlformats.org/officeDocument/2006/relationships/image" Target="../media/image53.jpg"/><Relationship Id="rId14" Type="http://schemas.openxmlformats.org/officeDocument/2006/relationships/image" Target="../media/image54.jpg"/><Relationship Id="rId15" Type="http://schemas.openxmlformats.org/officeDocument/2006/relationships/image" Target="../media/image55.jpg"/></Relationships>

</file>

<file path=ppt/slides/_rels/slide5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/Relationships>

</file>

<file path=ppt/slides/_rels/slide6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/Relationships>

</file>

<file path=ppt/slides/_rels/slide7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Relationship Id="rId4" Type="http://schemas.openxmlformats.org/officeDocument/2006/relationships/image" Target="../media/image72.jpg"/><Relationship Id="rId5" Type="http://schemas.openxmlformats.org/officeDocument/2006/relationships/image" Target="../media/image73.jpg"/><Relationship Id="rId6" Type="http://schemas.openxmlformats.org/officeDocument/2006/relationships/image" Target="../media/image74.jpg"/><Relationship Id="rId7" Type="http://schemas.openxmlformats.org/officeDocument/2006/relationships/image" Target="../media/image75.jpg"/><Relationship Id="rId8" Type="http://schemas.openxmlformats.org/officeDocument/2006/relationships/image" Target="../media/image76.jpg"/></Relationships>

</file>

<file path=ppt/slides/_rels/slide8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jpg"/><Relationship Id="rId3" Type="http://schemas.openxmlformats.org/officeDocument/2006/relationships/image" Target="../media/image78.jpg"/><Relationship Id="rId4" Type="http://schemas.openxmlformats.org/officeDocument/2006/relationships/image" Target="../media/image79.jpg"/><Relationship Id="rId5" Type="http://schemas.openxmlformats.org/officeDocument/2006/relationships/image" Target="../media/image80.jpg"/><Relationship Id="rId6" Type="http://schemas.openxmlformats.org/officeDocument/2006/relationships/image" Target="../media/image81.jpg"/><Relationship Id="rId7" Type="http://schemas.openxmlformats.org/officeDocument/2006/relationships/image" Target="../media/image82.jpg"/><Relationship Id="rId8" Type="http://schemas.openxmlformats.org/officeDocument/2006/relationships/image" Target="../media/image83.jpg"/></Relationships>

</file>

<file path=ppt/slides/_rels/slide9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4.jpg"/></Relationships>

</file>

<file path=ppt/slides/_rels/slide10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Relationship Id="rId9" Type="http://schemas.openxmlformats.org/officeDocument/2006/relationships/image" Target="../media/image92.jpg"/><Relationship Id="rId10" Type="http://schemas.openxmlformats.org/officeDocument/2006/relationships/image" Target="../media/image93.jpg"/><Relationship Id="rId11" Type="http://schemas.openxmlformats.org/officeDocument/2006/relationships/image" Target="../media/image94.jpg"/><Relationship Id="rId12" Type="http://schemas.openxmlformats.org/officeDocument/2006/relationships/image" Target="../media/image95.jpg"/><Relationship Id="rId13" Type="http://schemas.openxmlformats.org/officeDocument/2006/relationships/image" Target="../media/image96.jpg"/><Relationship Id="rId14" Type="http://schemas.openxmlformats.org/officeDocument/2006/relationships/image" Target="../media/image97.jpg"/><Relationship Id="rId15" Type="http://schemas.openxmlformats.org/officeDocument/2006/relationships/image" Target="../media/image98.jpg"/><Relationship Id="rId16" Type="http://schemas.openxmlformats.org/officeDocument/2006/relationships/image" Target="../media/image99.jpg"/><Relationship Id="rId17" Type="http://schemas.openxmlformats.org/officeDocument/2006/relationships/image" Target="../media/image100.jpg"/><Relationship Id="rId18" Type="http://schemas.openxmlformats.org/officeDocument/2006/relationships/image" Target="../media/image101.jpg"/><Relationship Id="rId19" Type="http://schemas.openxmlformats.org/officeDocument/2006/relationships/image" Target="../media/image102.jpg"/></Relationships>

</file>

<file path=ppt/slides/_rels/slide1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slidekit.com" TargetMode="External"/><Relationship Id="rId3" Type="http://schemas.openxmlformats.org/officeDocument/2006/relationships/hyperlink" Target="http://www.slidekit.com/wp-content/uploads/2024/08/Ppt-Slide-For-Thank-You-Day-Presentation.jpg" TargetMode="External"/><Relationship Id="rId4" Type="http://schemas.openxmlformats.org/officeDocument/2006/relationships/hyperlink" Target="http://www.vecteezy.com" TargetMode="External"/><Relationship Id="rId5" Type="http://schemas.openxmlformats.org/officeDocument/2006/relationships/hyperlink" Target="http://www.vecteezy.com" TargetMode="External"/><Relationship Id="rId6" Type="http://schemas.openxmlformats.org/officeDocument/2006/relationships/hyperlink" Target="http://www.istockphoto.com" TargetMode="External"/><Relationship Id="rId7" Type="http://schemas.openxmlformats.org/officeDocument/2006/relationships/image" Target="../media/image103.jpg"/><Relationship Id="rId8" Type="http://schemas.openxmlformats.org/officeDocument/2006/relationships/image" Target="../media/image104.jpg"/><Relationship Id="rId9" Type="http://schemas.openxmlformats.org/officeDocument/2006/relationships/image" Target="../media/image105.jpg"/><Relationship Id="rId10" Type="http://schemas.openxmlformats.org/officeDocument/2006/relationships/image" Target="../media/image106.jpg"/><Relationship Id="rId11" Type="http://schemas.openxmlformats.org/officeDocument/2006/relationships/image" Target="../media/image107.jpg"/><Relationship Id="rId12" Type="http://schemas.openxmlformats.org/officeDocument/2006/relationships/image" Target="../media/image108.jpg"/><Relationship Id="rId13" Type="http://schemas.openxmlformats.org/officeDocument/2006/relationships/image" Target="../media/image109.jpg"/><Relationship Id="rId14" Type="http://schemas.openxmlformats.org/officeDocument/2006/relationships/image" Target="../media/image110.jpg"/></Relationships>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4586247" y="3486804"/>
            <a:ext cx="989498" cy="98949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779928" y="3769518"/>
            <a:ext cx="691078" cy="72249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6659483" y="3769518"/>
            <a:ext cx="643959" cy="70678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7491918" y="3769518"/>
            <a:ext cx="1005204" cy="10052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8638480" y="3769518"/>
            <a:ext cx="675372" cy="72249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9470915" y="3769518"/>
            <a:ext cx="973792" cy="7067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0601771" y="3769518"/>
            <a:ext cx="675372" cy="72249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1434206" y="3769518"/>
            <a:ext cx="643959" cy="7067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2612181" y="3471098"/>
            <a:ext cx="753903" cy="10209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3538854" y="3486804"/>
            <a:ext cx="785316" cy="98949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4528353" y="3486804"/>
            <a:ext cx="989498" cy="98949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010318" y="4868961"/>
            <a:ext cx="1366450" cy="10052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533832" y="5151675"/>
            <a:ext cx="1225093" cy="7224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7947402" y="5151675"/>
            <a:ext cx="643959" cy="7067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8764131" y="5151675"/>
            <a:ext cx="706784" cy="9894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9659391" y="4868961"/>
            <a:ext cx="534015" cy="1005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0271938" y="5151675"/>
            <a:ext cx="706784" cy="7224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1072961" y="4947493"/>
            <a:ext cx="439777" cy="9109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2046753" y="4868961"/>
            <a:ext cx="785316" cy="9894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2973427" y="5151675"/>
            <a:ext cx="675372" cy="722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3758743" y="5151675"/>
            <a:ext cx="565427" cy="7224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4449821" y="5151675"/>
            <a:ext cx="691078" cy="722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722491" y="628253"/>
            <a:ext cx="18659117" cy="0"/>
          </a:xfrm>
          <a:custGeom>
            <a:avLst/>
            <a:gdLst/>
            <a:ahLst/>
            <a:cxnLst/>
            <a:rect l="l" t="t" r="r" b="b"/>
            <a:pathLst>
              <a:path w="18659117" h="0">
                <a:moveTo>
                  <a:pt x="0" y="0"/>
                </a:moveTo>
                <a:lnTo>
                  <a:pt x="18659117" y="0"/>
                </a:lnTo>
              </a:path>
            </a:pathLst>
          </a:custGeom>
          <a:ln w="7853">
            <a:solidFill>
              <a:srgbClr val="DBFB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628253" y="722491"/>
            <a:ext cx="0" cy="9863574"/>
          </a:xfrm>
          <a:custGeom>
            <a:avLst/>
            <a:gdLst/>
            <a:ahLst/>
            <a:cxnLst/>
            <a:rect l="l" t="t" r="r" b="b"/>
            <a:pathLst>
              <a:path w="0" h="9863574">
                <a:moveTo>
                  <a:pt x="0" y="9863574"/>
                </a:moveTo>
                <a:lnTo>
                  <a:pt x="0" y="0"/>
                </a:lnTo>
              </a:path>
            </a:pathLst>
          </a:custGeom>
          <a:ln w="7853">
            <a:solidFill>
              <a:srgbClr val="DBFB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738197" y="10664596"/>
            <a:ext cx="18627705" cy="0"/>
          </a:xfrm>
          <a:custGeom>
            <a:avLst/>
            <a:gdLst/>
            <a:ahLst/>
            <a:cxnLst/>
            <a:rect l="l" t="t" r="r" b="b"/>
            <a:pathLst>
              <a:path w="18627705" h="0">
                <a:moveTo>
                  <a:pt x="0" y="0"/>
                </a:moveTo>
                <a:lnTo>
                  <a:pt x="18627705" y="0"/>
                </a:lnTo>
              </a:path>
            </a:pathLst>
          </a:custGeom>
          <a:ln w="7853">
            <a:solidFill>
              <a:srgbClr val="DBFB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9460140" y="738197"/>
            <a:ext cx="0" cy="9832161"/>
          </a:xfrm>
          <a:custGeom>
            <a:avLst/>
            <a:gdLst/>
            <a:ahLst/>
            <a:cxnLst/>
            <a:rect l="l" t="t" r="r" b="b"/>
            <a:pathLst>
              <a:path w="0" h="9832161">
                <a:moveTo>
                  <a:pt x="0" y="9832161"/>
                </a:moveTo>
                <a:lnTo>
                  <a:pt x="0" y="0"/>
                </a:lnTo>
              </a:path>
            </a:pathLst>
          </a:custGeom>
          <a:ln w="7853">
            <a:solidFill>
              <a:srgbClr val="DBFB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335213" y="3330057"/>
            <a:ext cx="274470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>
                <a:solidFill>
                  <a:srgbClr val="1C2834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2302" y="7057866"/>
            <a:ext cx="3723590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Analisis</a:t>
            </a: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 </a:t>
            </a:r>
            <a:r>
              <a:rPr dirty="0" smtClean="0" sz="2700" spc="383">
                <a:solidFill>
                  <a:srgbClr val="445457"/>
                </a:solidFill>
                <a:latin typeface="Arial"/>
                <a:cs typeface="Arial"/>
              </a:rPr>
              <a:t> </a:t>
            </a: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Problernctiko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6058" y="7057866"/>
            <a:ext cx="711226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dan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1375" y="7057866"/>
            <a:ext cx="1385891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Strategi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9182" y="7057866"/>
            <a:ext cx="2760308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Pengembangan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59147" y="7057866"/>
            <a:ext cx="1534127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Aparatur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6843" y="7057866"/>
            <a:ext cx="948238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>
                <a:solidFill>
                  <a:srgbClr val="445457"/>
                </a:solidFill>
                <a:latin typeface="Arial"/>
                <a:cs typeface="Arial"/>
              </a:rPr>
              <a:t>Desa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491" y="488553"/>
            <a:ext cx="1865911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38197" y="10524896"/>
            <a:ext cx="1862770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45"/>
          <p:cNvSpPr/>
          <p:nvPr/>
        </p:nvSpPr>
        <p:spPr>
          <a:xfrm>
            <a:off x="691078" y="706784"/>
            <a:ext cx="534015" cy="643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303625" y="753903"/>
            <a:ext cx="1366450" cy="6125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968496" y="691078"/>
            <a:ext cx="549721" cy="6753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3832344" y="706784"/>
            <a:ext cx="439777" cy="6439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5261619" y="691078"/>
            <a:ext cx="376951" cy="1884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6251118" y="706784"/>
            <a:ext cx="1429275" cy="6439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7774632" y="706784"/>
            <a:ext cx="471189" cy="6439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8607067" y="706784"/>
            <a:ext cx="471189" cy="6439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9439503" y="706784"/>
            <a:ext cx="1429275" cy="6596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130855" y="6596657"/>
            <a:ext cx="376951" cy="3769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146561" y="7758926"/>
            <a:ext cx="361245" cy="3769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2973427" y="4177883"/>
            <a:ext cx="4397771" cy="44134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130855" y="7177791"/>
            <a:ext cx="376951" cy="376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795635" y="706784"/>
            <a:ext cx="0" cy="518308"/>
          </a:xfrm>
          <a:custGeom>
            <a:avLst/>
            <a:gdLst/>
            <a:ahLst/>
            <a:cxnLst/>
            <a:rect l="l" t="t" r="r" b="b"/>
            <a:pathLst>
              <a:path w="0" h="518308">
                <a:moveTo>
                  <a:pt x="0" y="518308"/>
                </a:moveTo>
                <a:lnTo>
                  <a:pt x="0" y="0"/>
                </a:lnTo>
              </a:path>
            </a:pathLst>
          </a:custGeom>
          <a:ln w="78531">
            <a:solidFill>
              <a:srgbClr val="1D283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612546" y="1727696"/>
            <a:ext cx="18863300" cy="0"/>
          </a:xfrm>
          <a:custGeom>
            <a:avLst/>
            <a:gdLst/>
            <a:ahLst/>
            <a:cxnLst/>
            <a:rect l="l" t="t" r="r" b="b"/>
            <a:pathLst>
              <a:path w="18863300" h="0">
                <a:moveTo>
                  <a:pt x="0" y="0"/>
                </a:moveTo>
                <a:lnTo>
                  <a:pt x="18863300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358772" y="575217"/>
            <a:ext cx="212063" cy="8954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6783">
              <a:lnSpc>
                <a:spcPts val="2940"/>
              </a:lnSpc>
              <a:spcBef>
                <a:spcPts val="147"/>
              </a:spcBef>
            </a:pPr>
            <a:r>
              <a:rPr dirty="0" smtClean="0" baseline="-6341" sz="4800" spc="0">
                <a:solidFill>
                  <a:srgbClr val="1D283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28406">
              <a:lnSpc>
                <a:spcPts val="4110"/>
              </a:lnSpc>
              <a:spcBef>
                <a:spcPts val="58"/>
              </a:spcBef>
            </a:pPr>
            <a:r>
              <a:rPr dirty="0" smtClean="0" baseline="1302" sz="6675" spc="0">
                <a:solidFill>
                  <a:srgbClr val="1D2836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91208" y="575217"/>
            <a:ext cx="212063" cy="8954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6783">
              <a:lnSpc>
                <a:spcPts val="2940"/>
              </a:lnSpc>
              <a:spcBef>
                <a:spcPts val="147"/>
              </a:spcBef>
            </a:pPr>
            <a:r>
              <a:rPr dirty="0" smtClean="0" baseline="-6341" sz="4800" spc="0">
                <a:solidFill>
                  <a:srgbClr val="1D283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28406">
              <a:lnSpc>
                <a:spcPts val="4110"/>
              </a:lnSpc>
              <a:spcBef>
                <a:spcPts val="58"/>
              </a:spcBef>
            </a:pPr>
            <a:r>
              <a:rPr dirty="0" smtClean="0" baseline="1302" sz="6675" spc="0">
                <a:solidFill>
                  <a:srgbClr val="1D2836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30099" y="872017"/>
            <a:ext cx="731562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6"/>
                </a:solidFill>
                <a:latin typeface="Arial"/>
                <a:cs typeface="Arial"/>
              </a:rPr>
              <a:t>ro</a:t>
            </a:r>
            <a:endParaRPr sz="4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15927" y="872017"/>
            <a:ext cx="204188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6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1937" y="1906417"/>
            <a:ext cx="9410119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85"/>
              </a:lnSpc>
              <a:spcBef>
                <a:spcPts val="189"/>
              </a:spcBef>
            </a:pPr>
            <a:r>
              <a:rPr dirty="0" smtClean="0" baseline="-3549" sz="3675" spc="-379">
                <a:solidFill>
                  <a:srgbClr val="F08241"/>
                </a:solidFill>
                <a:latin typeface="Arial"/>
                <a:cs typeface="Arial"/>
              </a:rPr>
              <a:t>,</a:t>
            </a:r>
            <a:r>
              <a:rPr dirty="0" smtClean="0" baseline="4973" sz="5325" spc="0">
                <a:solidFill>
                  <a:srgbClr val="F08241"/>
                </a:solidFill>
                <a:latin typeface="Courier New"/>
                <a:cs typeface="Courier New"/>
              </a:rPr>
              <a:t>,---------------------------------------------------------,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70762" y="2041589"/>
            <a:ext cx="138171" cy="3395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25"/>
              </a:lnSpc>
              <a:spcBef>
                <a:spcPts val="131"/>
              </a:spcBef>
            </a:pPr>
            <a:r>
              <a:rPr dirty="0" smtClean="0" sz="2450" spc="0">
                <a:solidFill>
                  <a:srgbClr val="F08241"/>
                </a:solidFill>
                <a:latin typeface="Arial"/>
                <a:cs typeface="Arial"/>
              </a:rPr>
              <a:t>'</a:t>
            </a:r>
            <a:endParaRPr sz="2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406" y="2274335"/>
            <a:ext cx="86104" cy="158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75"/>
              </a:lnSpc>
              <a:spcBef>
                <a:spcPts val="58"/>
              </a:spcBef>
            </a:pPr>
            <a:r>
              <a:rPr dirty="0" smtClean="0" sz="10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5000" y="2274335"/>
            <a:ext cx="86104" cy="158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75"/>
              </a:lnSpc>
              <a:spcBef>
                <a:spcPts val="58"/>
              </a:spcBef>
            </a:pPr>
            <a:r>
              <a:rPr dirty="0" smtClean="0" sz="1050" spc="0" i="1">
                <a:solidFill>
                  <a:srgbClr val="F08241"/>
                </a:solidFill>
                <a:latin typeface="Arial"/>
                <a:cs typeface="Arial"/>
              </a:rPr>
              <a:t>\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3861" y="4580460"/>
            <a:ext cx="3429655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 b="1">
                <a:solidFill>
                  <a:srgbClr val="3B424F"/>
                </a:solidFill>
                <a:latin typeface="Arial"/>
                <a:cs typeface="Arial"/>
              </a:rPr>
              <a:t>Potret</a:t>
            </a:r>
            <a:r>
              <a:rPr dirty="0" smtClean="0" sz="1900" spc="0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 b="1">
                <a:solidFill>
                  <a:srgbClr val="3B424F"/>
                </a:solidFill>
                <a:latin typeface="Arial"/>
                <a:cs typeface="Arial"/>
              </a:rPr>
              <a:t>Pendidikan</a:t>
            </a:r>
            <a:r>
              <a:rPr dirty="0" smtClean="0" sz="1900" spc="-104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 b="1">
                <a:solidFill>
                  <a:srgbClr val="3B424F"/>
                </a:solidFill>
                <a:latin typeface="Arial"/>
                <a:cs typeface="Arial"/>
              </a:rPr>
              <a:t>Desa</a:t>
            </a:r>
            <a:r>
              <a:rPr dirty="0" smtClean="0" sz="1900" spc="25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 b="1">
                <a:solidFill>
                  <a:srgbClr val="3B424F"/>
                </a:solidFill>
                <a:latin typeface="Arial"/>
                <a:cs typeface="Arial"/>
              </a:rPr>
              <a:t>2024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3861" y="5498196"/>
            <a:ext cx="7444362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Mayoritas</a:t>
            </a:r>
            <a:r>
              <a:rPr dirty="0" smtClean="0" sz="1550" spc="14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perangkat</a:t>
            </a:r>
            <a:r>
              <a:rPr dirty="0" smtClean="0" sz="1550" spc="38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desa</a:t>
            </a:r>
            <a:r>
              <a:rPr dirty="0" smtClean="0" sz="1550" spc="265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di</a:t>
            </a:r>
            <a:r>
              <a:rPr dirty="0" smtClean="0" sz="1550" spc="149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Indonesia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225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masih</a:t>
            </a:r>
            <a:r>
              <a:rPr dirty="0" smtClean="0" sz="1550" spc="289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didominasi</a:t>
            </a:r>
            <a:r>
              <a:rPr dirty="0" smtClean="0" sz="1550" spc="126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oleh</a:t>
            </a:r>
            <a:r>
              <a:rPr dirty="0" smtClean="0" sz="1550" spc="329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lulusan</a:t>
            </a:r>
            <a:r>
              <a:rPr dirty="0" smtClean="0" sz="1550" spc="373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tingkat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26008" y="5828029"/>
            <a:ext cx="3309962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menengah.</a:t>
            </a:r>
            <a:r>
              <a:rPr dirty="0" smtClean="0" sz="1550" spc="198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-97">
                <a:solidFill>
                  <a:srgbClr val="3B424F"/>
                </a:solidFill>
                <a:latin typeface="Arial"/>
                <a:cs typeface="Arial"/>
              </a:rPr>
              <a:t>T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antangan</a:t>
            </a:r>
            <a:r>
              <a:rPr dirty="0" smtClean="0" sz="1550" spc="422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digitalisasi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55750" y="5828029"/>
            <a:ext cx="954763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menuntut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76661" y="5828029"/>
            <a:ext cx="1231194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peningkatan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4580" y="5828029"/>
            <a:ext cx="1158847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kompetensi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8261" y="5828029"/>
            <a:ext cx="1410874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berkelanjutan.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91436" y="6677255"/>
            <a:ext cx="914472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Lulusan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8788" y="6677255"/>
            <a:ext cx="1526532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5tv1A</a:t>
            </a:r>
            <a:r>
              <a:rPr dirty="0" smtClean="0" sz="1900" spc="269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(57.5%)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1436" y="7258389"/>
            <a:ext cx="914472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Lulusan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8788" y="7258389"/>
            <a:ext cx="1275231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51</a:t>
            </a:r>
            <a:r>
              <a:rPr dirty="0" smtClean="0" sz="1900" spc="184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(23.6%)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1436" y="7847376"/>
            <a:ext cx="914472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Lulusan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8788" y="7847376"/>
            <a:ext cx="670780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52/53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8398" y="7847376"/>
            <a:ext cx="823210" cy="2688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55"/>
              </a:lnSpc>
              <a:spcBef>
                <a:spcPts val="102"/>
              </a:spcBef>
            </a:pP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(</a:t>
            </a:r>
            <a:r>
              <a:rPr dirty="0" smtClean="0" sz="1900" spc="-173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900" spc="0">
                <a:solidFill>
                  <a:srgbClr val="3B424F"/>
                </a:solidFill>
                <a:latin typeface="Arial"/>
                <a:cs typeface="Arial"/>
              </a:rPr>
              <a:t>1.8%)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99" y="1027521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72853" y="1027521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965" y="1042442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\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2175" y="1042442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056" y="10466949"/>
            <a:ext cx="121255" cy="2924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50"/>
              </a:lnSpc>
              <a:spcBef>
                <a:spcPts val="112"/>
              </a:spcBef>
            </a:pPr>
            <a:r>
              <a:rPr dirty="0" smtClean="0" sz="2100" spc="0">
                <a:solidFill>
                  <a:srgbClr val="F08241"/>
                </a:solidFill>
                <a:latin typeface="Arial"/>
                <a:cs typeface="Arial"/>
              </a:rPr>
              <a:t>'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2560" y="10474219"/>
            <a:ext cx="9128693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85"/>
              </a:lnSpc>
              <a:spcBef>
                <a:spcPts val="189"/>
              </a:spcBef>
            </a:pPr>
            <a:r>
              <a:rPr dirty="0" smtClean="0" baseline="4973" sz="5325" spc="0">
                <a:solidFill>
                  <a:srgbClr val="F08241"/>
                </a:solidFill>
                <a:latin typeface="Courier New"/>
                <a:cs typeface="Courier New"/>
              </a:rPr>
              <a:t>---------------------------------------------------------~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76524" y="10619674"/>
            <a:ext cx="75762" cy="103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dirty="0" smtClean="0" sz="600" spc="0">
                <a:solidFill>
                  <a:srgbClr val="F08241"/>
                </a:solidFill>
                <a:latin typeface="Arial"/>
                <a:cs typeface="Arial"/>
              </a:rPr>
              <a:t>~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989498" y="3832344"/>
            <a:ext cx="471189" cy="6753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523513" y="3895169"/>
            <a:ext cx="282713" cy="5968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869053" y="3895169"/>
            <a:ext cx="1821934" cy="6125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3957994" y="3848050"/>
            <a:ext cx="549721" cy="6439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4570541" y="4036526"/>
            <a:ext cx="675372" cy="4554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5340151" y="3848050"/>
            <a:ext cx="486896" cy="643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926673" y="4868961"/>
            <a:ext cx="8182996" cy="0"/>
          </a:xfrm>
          <a:custGeom>
            <a:avLst/>
            <a:gdLst/>
            <a:ahLst/>
            <a:cxnLst/>
            <a:rect l="l" t="t" r="r" b="b"/>
            <a:pathLst>
              <a:path w="8182996" h="0">
                <a:moveTo>
                  <a:pt x="0" y="0"/>
                </a:moveTo>
                <a:lnTo>
                  <a:pt x="8182996" y="0"/>
                </a:lnTo>
              </a:path>
            </a:pathLst>
          </a:custGeom>
          <a:ln w="78531">
            <a:solidFill>
              <a:srgbClr val="B8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31496" y="71660"/>
            <a:ext cx="1356860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77A36B"/>
                </a:solidFill>
                <a:latin typeface="Arial"/>
                <a:cs typeface="Arial"/>
              </a:rPr>
              <a:t>!,</a:t>
            </a:r>
            <a:r>
              <a:rPr dirty="0" smtClean="0" sz="1550">
                <a:solidFill>
                  <a:srgbClr val="939E93"/>
                </a:solidFill>
                <a:latin typeface="Arial"/>
                <a:cs typeface="Arial"/>
              </a:rPr>
              <a:t>~</a:t>
            </a:r>
            <a:r>
              <a:rPr dirty="0" smtClean="0" sz="1550">
                <a:solidFill>
                  <a:srgbClr val="121014"/>
                </a:solidFill>
                <a:latin typeface="Arial"/>
                <a:cs typeface="Arial"/>
              </a:rPr>
              <a:t>Amb</a:t>
            </a:r>
            <a:r>
              <a:rPr dirty="0" smtClean="0" sz="1550">
                <a:solidFill>
                  <a:srgbClr val="070001"/>
                </a:solidFill>
                <a:latin typeface="Arial"/>
                <a:cs typeface="Arial"/>
              </a:rPr>
              <a:t>i</a:t>
            </a:r>
            <a:r>
              <a:rPr dirty="0" smtClean="0" sz="1550">
                <a:solidFill>
                  <a:srgbClr val="121014"/>
                </a:solidFill>
                <a:latin typeface="Arial"/>
                <a:cs typeface="Arial"/>
              </a:rPr>
              <a:t>va</a:t>
            </a:r>
            <a:r>
              <a:rPr dirty="0" smtClean="0" sz="1550">
                <a:solidFill>
                  <a:srgbClr val="070001"/>
                </a:solidFill>
                <a:latin typeface="Arial"/>
                <a:cs typeface="Arial"/>
              </a:rPr>
              <a:t>l</a:t>
            </a:r>
            <a:r>
              <a:rPr dirty="0" smtClean="0" sz="1550">
                <a:solidFill>
                  <a:srgbClr val="121014"/>
                </a:solidFill>
                <a:latin typeface="Arial"/>
                <a:cs typeface="Arial"/>
              </a:rPr>
              <a:t>ent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60772" y="71660"/>
            <a:ext cx="638653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121014"/>
                </a:solidFill>
                <a:latin typeface="Arial"/>
                <a:cs typeface="Arial"/>
              </a:rPr>
              <a:t>Status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20438" y="71660"/>
            <a:ext cx="858875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121014"/>
                </a:solidFill>
                <a:latin typeface="Arial"/>
                <a:cs typeface="Arial"/>
              </a:rPr>
              <a:t>Concept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4292" y="3716482"/>
            <a:ext cx="1163367" cy="8876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4814">
              <a:lnSpc>
                <a:spcPts val="2910"/>
              </a:lnSpc>
              <a:spcBef>
                <a:spcPts val="145"/>
              </a:spcBef>
            </a:pPr>
            <a:r>
              <a:rPr dirty="0" smtClean="0" baseline="-7246" sz="4800" spc="0">
                <a:solidFill>
                  <a:srgbClr val="1D2838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28406">
              <a:lnSpc>
                <a:spcPts val="4075"/>
              </a:lnSpc>
              <a:spcBef>
                <a:spcPts val="58"/>
              </a:spcBef>
            </a:pPr>
            <a:r>
              <a:rPr dirty="0" smtClean="0" baseline="1954" sz="6675" spc="0" b="1">
                <a:solidFill>
                  <a:srgbClr val="1D2838"/>
                </a:solidFill>
                <a:latin typeface="Arial"/>
                <a:cs typeface="Arial"/>
              </a:rPr>
              <a:t>1va</a:t>
            </a:r>
            <a:endParaRPr sz="4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9274" y="4013282"/>
            <a:ext cx="835431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en</a:t>
            </a:r>
            <a:endParaRPr sz="4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7532" y="5554658"/>
            <a:ext cx="8124201" cy="559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53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Deso</a:t>
            </a:r>
            <a:r>
              <a:rPr dirty="0" smtClean="0" sz="1600" spc="191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dianggap</a:t>
            </a:r>
            <a:r>
              <a:rPr dirty="0" smtClean="0" sz="1600" spc="-94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sebagai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36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 i="1">
                <a:solidFill>
                  <a:srgbClr val="414650"/>
                </a:solidFill>
                <a:latin typeface="Arial"/>
                <a:cs typeface="Arial"/>
              </a:rPr>
              <a:t>Quasi</a:t>
            </a:r>
            <a:r>
              <a:rPr dirty="0" smtClean="0" sz="1600" spc="242" i="1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 i="1">
                <a:solidFill>
                  <a:srgbClr val="414650"/>
                </a:solidFill>
                <a:latin typeface="Arial"/>
                <a:cs typeface="Arial"/>
              </a:rPr>
              <a:t>Local</a:t>
            </a:r>
            <a:r>
              <a:rPr dirty="0" smtClean="0" sz="1600" spc="227" i="1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Government(Pemerintahan</a:t>
            </a:r>
            <a:r>
              <a:rPr dirty="0" smtClean="0" sz="1600" spc="20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Semu).</a:t>
            </a:r>
            <a:r>
              <a:rPr dirty="0" smtClean="0" sz="1600" spc="127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Perangkat</a:t>
            </a:r>
            <a:endParaRPr sz="1600">
              <a:latin typeface="Arial"/>
              <a:cs typeface="Arial"/>
            </a:endParaRPr>
          </a:p>
          <a:p>
            <a:pPr marL="12700" marR="30627">
              <a:lnSpc>
                <a:spcPct val="95825"/>
              </a:lnSpc>
              <a:spcBef>
                <a:spcPts val="670"/>
              </a:spcBef>
            </a:pP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desa</a:t>
            </a:r>
            <a:r>
              <a:rPr dirty="0" smtClean="0" sz="1600" spc="15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bukan</a:t>
            </a:r>
            <a:r>
              <a:rPr dirty="0" smtClean="0" sz="1600" spc="307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ASN,</a:t>
            </a:r>
            <a:r>
              <a:rPr dirty="0" smtClean="0" sz="1600" spc="-48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namun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11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menjalankan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32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fungsi</a:t>
            </a:r>
            <a:r>
              <a:rPr dirty="0" smtClean="0" sz="1600" spc="398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birokrasi</a:t>
            </a:r>
            <a:r>
              <a:rPr dirty="0" smtClean="0" sz="1600" spc="407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negara.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37532" y="6716926"/>
            <a:ext cx="6955639" cy="559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53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Ketidakjelasan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345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status</a:t>
            </a:r>
            <a:r>
              <a:rPr dirty="0" smtClean="0" sz="1600" spc="338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ini</a:t>
            </a:r>
            <a:r>
              <a:rPr dirty="0" smtClean="0" sz="1600" spc="5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memicu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41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keraguan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138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dalam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52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loyalitas</a:t>
            </a:r>
            <a:r>
              <a:rPr dirty="0" smtClean="0" sz="1600" spc="30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don</a:t>
            </a:r>
            <a:r>
              <a:rPr dirty="0" smtClean="0" sz="1600" spc="21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jaminan</a:t>
            </a:r>
            <a:endParaRPr sz="1600">
              <a:latin typeface="Arial"/>
              <a:cs typeface="Arial"/>
            </a:endParaRPr>
          </a:p>
          <a:p>
            <a:pPr marL="12700" marR="30627">
              <a:lnSpc>
                <a:spcPct val="95825"/>
              </a:lnSpc>
              <a:spcBef>
                <a:spcPts val="670"/>
              </a:spcBef>
            </a:pP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perlindungan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  </a:t>
            </a:r>
            <a:r>
              <a:rPr dirty="0" smtClean="0" sz="1600" spc="69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kerja</a:t>
            </a:r>
            <a:r>
              <a:rPr dirty="0" smtClean="0" sz="1600" spc="213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bagi</a:t>
            </a:r>
            <a:r>
              <a:rPr dirty="0" smtClean="0" sz="1600" spc="226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para</a:t>
            </a:r>
            <a:r>
              <a:rPr dirty="0" smtClean="0" sz="1600" spc="295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aparatur</a:t>
            </a:r>
            <a:r>
              <a:rPr dirty="0" smtClean="0" sz="1600" spc="232">
                <a:solidFill>
                  <a:srgbClr val="414650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14650"/>
                </a:solidFill>
                <a:latin typeface="Arial"/>
                <a:cs typeface="Arial"/>
              </a:rPr>
              <a:t>desa.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691078" y="706784"/>
            <a:ext cx="942379" cy="64395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696283" y="706784"/>
            <a:ext cx="376951" cy="6439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183179" y="879554"/>
            <a:ext cx="832435" cy="4868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3078440" y="753903"/>
            <a:ext cx="282713" cy="5968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3439685" y="895260"/>
            <a:ext cx="675372" cy="45548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4193589" y="879554"/>
            <a:ext cx="973792" cy="4711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5481508" y="691078"/>
            <a:ext cx="549721" cy="675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6329650" y="691078"/>
            <a:ext cx="471189" cy="6753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6879371" y="879554"/>
            <a:ext cx="1177974" cy="4868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8120171" y="706784"/>
            <a:ext cx="376951" cy="6439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3156971" y="4680485"/>
            <a:ext cx="1005204" cy="7853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7005022" y="4193589"/>
            <a:ext cx="6078348" cy="4366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13413204" y="8245822"/>
            <a:ext cx="298420" cy="298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13397497" y="4476303"/>
            <a:ext cx="0" cy="3769518"/>
          </a:xfrm>
          <a:custGeom>
            <a:avLst/>
            <a:gdLst/>
            <a:ahLst/>
            <a:cxnLst/>
            <a:rect l="l" t="t" r="r" b="b"/>
            <a:pathLst>
              <a:path w="0" h="3769518">
                <a:moveTo>
                  <a:pt x="0" y="3769518"/>
                </a:moveTo>
                <a:lnTo>
                  <a:pt x="0" y="0"/>
                </a:lnTo>
              </a:path>
            </a:pathLst>
          </a:custGeom>
          <a:ln w="15706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3711624" y="8544242"/>
            <a:ext cx="5465802" cy="0"/>
          </a:xfrm>
          <a:custGeom>
            <a:avLst/>
            <a:gdLst/>
            <a:ahLst/>
            <a:cxnLst/>
            <a:rect l="l" t="t" r="r" b="b"/>
            <a:pathLst>
              <a:path w="5465802" h="0">
                <a:moveTo>
                  <a:pt x="0" y="0"/>
                </a:moveTo>
                <a:lnTo>
                  <a:pt x="5465802" y="0"/>
                </a:lnTo>
              </a:path>
            </a:pathLst>
          </a:custGeom>
          <a:ln w="7853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5941923" y="4774723"/>
            <a:ext cx="989498" cy="596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612546" y="1727696"/>
            <a:ext cx="18863299" cy="0"/>
          </a:xfrm>
          <a:custGeom>
            <a:avLst/>
            <a:gdLst/>
            <a:ahLst/>
            <a:cxnLst/>
            <a:rect l="l" t="t" r="r" b="b"/>
            <a:pathLst>
              <a:path w="18863299" h="0">
                <a:moveTo>
                  <a:pt x="0" y="0"/>
                </a:moveTo>
                <a:lnTo>
                  <a:pt x="18863299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628253" y="4476303"/>
            <a:ext cx="0" cy="3188384"/>
          </a:xfrm>
          <a:custGeom>
            <a:avLst/>
            <a:gdLst/>
            <a:ahLst/>
            <a:cxnLst/>
            <a:rect l="l" t="t" r="r" b="b"/>
            <a:pathLst>
              <a:path w="0" h="3188384">
                <a:moveTo>
                  <a:pt x="0" y="3188384"/>
                </a:moveTo>
                <a:lnTo>
                  <a:pt x="0" y="0"/>
                </a:lnTo>
              </a:path>
            </a:pathLst>
          </a:custGeom>
          <a:ln w="7853">
            <a:solidFill>
              <a:srgbClr val="F9D4B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3664505" y="4209295"/>
            <a:ext cx="5560040" cy="0"/>
          </a:xfrm>
          <a:custGeom>
            <a:avLst/>
            <a:gdLst/>
            <a:ahLst/>
            <a:cxnLst/>
            <a:rect l="l" t="t" r="r" b="b"/>
            <a:pathLst>
              <a:path w="5560040" h="0">
                <a:moveTo>
                  <a:pt x="0" y="0"/>
                </a:moveTo>
                <a:lnTo>
                  <a:pt x="5560040" y="0"/>
                </a:lnTo>
              </a:path>
            </a:pathLst>
          </a:custGeom>
          <a:ln w="15706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9460140" y="4476303"/>
            <a:ext cx="0" cy="3800931"/>
          </a:xfrm>
          <a:custGeom>
            <a:avLst/>
            <a:gdLst/>
            <a:ahLst/>
            <a:cxnLst/>
            <a:rect l="l" t="t" r="r" b="b"/>
            <a:pathLst>
              <a:path w="0" h="3800931">
                <a:moveTo>
                  <a:pt x="0" y="3800931"/>
                </a:moveTo>
                <a:lnTo>
                  <a:pt x="0" y="0"/>
                </a:lnTo>
              </a:path>
            </a:pathLst>
          </a:custGeom>
          <a:ln w="7853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570808" y="575217"/>
            <a:ext cx="649242" cy="8876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64580" algn="r">
              <a:lnSpc>
                <a:spcPts val="2910"/>
              </a:lnSpc>
              <a:spcBef>
                <a:spcPts val="145"/>
              </a:spcBef>
            </a:pPr>
            <a:r>
              <a:rPr dirty="0" smtClean="0" baseline="-7246" sz="4800" spc="0">
                <a:solidFill>
                  <a:srgbClr val="1F2838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R="12700" algn="r">
              <a:lnSpc>
                <a:spcPts val="4075"/>
              </a:lnSpc>
              <a:spcBef>
                <a:spcPts val="58"/>
              </a:spcBef>
            </a:pPr>
            <a:r>
              <a:rPr dirty="0" smtClean="0" baseline="1954" sz="6675" spc="0">
                <a:solidFill>
                  <a:srgbClr val="1F2838"/>
                </a:solidFill>
                <a:latin typeface="Arial"/>
                <a:cs typeface="Arial"/>
              </a:rPr>
              <a:t>SI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4439" y="6005542"/>
            <a:ext cx="1849605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 b="1">
                <a:solidFill>
                  <a:srgbClr val="343F4B"/>
                </a:solidFill>
                <a:latin typeface="Arial"/>
                <a:cs typeface="Arial"/>
              </a:rPr>
              <a:t>Non-Merit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28711" y="6005542"/>
            <a:ext cx="1842590" cy="370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</a:pPr>
            <a:r>
              <a:rPr dirty="0" smtClean="0" sz="2700" spc="0" b="1">
                <a:solidFill>
                  <a:srgbClr val="343F4B"/>
                </a:solidFill>
                <a:latin typeface="Arial"/>
                <a:cs typeface="Arial"/>
              </a:rPr>
              <a:t>Nepotisme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3072" y="6921108"/>
            <a:ext cx="4797156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Seleksi</a:t>
            </a:r>
            <a:r>
              <a:rPr dirty="0" smtClean="0" sz="1600" spc="-59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sering</a:t>
            </a:r>
            <a:r>
              <a:rPr dirty="0" smtClean="0" sz="1600" spc="248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kali</a:t>
            </a:r>
            <a:r>
              <a:rPr dirty="0" smtClean="0" sz="1600" spc="49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tidak</a:t>
            </a:r>
            <a:r>
              <a:rPr dirty="0" smtClean="0" sz="1600" spc="427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berpola</a:t>
            </a:r>
            <a:r>
              <a:rPr dirty="0" smtClean="0" sz="1600" spc="443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dan</a:t>
            </a:r>
            <a:r>
              <a:rPr dirty="0" smtClean="0" sz="1600" spc="278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lebih</a:t>
            </a:r>
            <a:r>
              <a:rPr dirty="0" smtClean="0" sz="1600" spc="243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bersifat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25086" y="6921108"/>
            <a:ext cx="2239615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Hubungan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44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kekerabatan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88888" y="6921108"/>
            <a:ext cx="2070139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masih</a:t>
            </a:r>
            <a:r>
              <a:rPr dirty="0" smtClean="0" sz="1600" spc="214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menjadi</a:t>
            </a:r>
            <a:r>
              <a:rPr dirty="0" smtClean="0" sz="1600" spc="423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faktor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302" y="7250941"/>
            <a:ext cx="1803419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politis</a:t>
            </a:r>
            <a:r>
              <a:rPr dirty="0" smtClean="0" sz="1600" spc="273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berdasarkan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0768" y="7250941"/>
            <a:ext cx="997920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kedekatan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0211" y="7250941"/>
            <a:ext cx="2135162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dengan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119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Kepala</a:t>
            </a:r>
            <a:r>
              <a:rPr dirty="0" smtClean="0" sz="1600" spc="368">
                <a:solidFill>
                  <a:srgbClr val="4B3F42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4B3F42"/>
                </a:solidFill>
                <a:latin typeface="Arial"/>
                <a:cs typeface="Arial"/>
              </a:rPr>
              <a:t>Desa</a:t>
            </a:r>
            <a:r>
              <a:rPr dirty="0" smtClean="0" sz="1600" spc="0">
                <a:solidFill>
                  <a:srgbClr val="674D42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32939" y="7250941"/>
            <a:ext cx="4416716" cy="559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dominan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184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dalam</a:t>
            </a:r>
            <a:r>
              <a:rPr dirty="0" smtClean="0" sz="1600" spc="373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pengisian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25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posisi</a:t>
            </a:r>
            <a:r>
              <a:rPr dirty="0" smtClean="0" sz="1600" spc="25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perangkat</a:t>
            </a:r>
            <a:r>
              <a:rPr dirty="0" smtClean="0" sz="1600" spc="60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di</a:t>
            </a:r>
            <a:endParaRPr sz="1600">
              <a:latin typeface="Arial"/>
              <a:cs typeface="Arial"/>
            </a:endParaRPr>
          </a:p>
          <a:p>
            <a:pPr marL="1398255" marR="1463374" algn="ctr">
              <a:lnSpc>
                <a:spcPct val="95825"/>
              </a:lnSpc>
              <a:spcBef>
                <a:spcPts val="670"/>
              </a:spcBef>
            </a:pP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banyak</a:t>
            </a:r>
            <a:r>
              <a:rPr dirty="0" smtClean="0" sz="1600" spc="373">
                <a:solidFill>
                  <a:srgbClr val="384B31"/>
                </a:solidFill>
                <a:latin typeface="Arial"/>
                <a:cs typeface="Arial"/>
              </a:rPr>
              <a:t> </a:t>
            </a:r>
            <a:r>
              <a:rPr dirty="0" smtClean="0" sz="1600" spc="0">
                <a:solidFill>
                  <a:srgbClr val="384B31"/>
                </a:solidFill>
                <a:latin typeface="Arial"/>
                <a:cs typeface="Arial"/>
              </a:rPr>
              <a:t>wilayah.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664505" y="4069595"/>
            <a:ext cx="55600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11167199" y="3031321"/>
            <a:ext cx="8465710" cy="7052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R="1041680" algn="r">
              <a:lnSpc>
                <a:spcPct val="95825"/>
              </a:lnSpc>
              <a:spcBef>
                <a:spcPts val="21148"/>
              </a:spcBef>
            </a:pPr>
            <a:r>
              <a:rPr dirty="0" smtClean="0" sz="1900" spc="0" i="1">
                <a:solidFill>
                  <a:srgbClr val="DAB8B1"/>
                </a:solidFill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91078" y="706784"/>
            <a:ext cx="439777" cy="6439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3361154" y="706784"/>
            <a:ext cx="471189" cy="6439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895169" y="753903"/>
            <a:ext cx="282713" cy="5968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6989316" y="691078"/>
            <a:ext cx="549721" cy="675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7853164" y="706784"/>
            <a:ext cx="439777" cy="6439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1167199" y="3031321"/>
            <a:ext cx="8465710" cy="7052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12546" y="1727696"/>
            <a:ext cx="18863300" cy="0"/>
          </a:xfrm>
          <a:custGeom>
            <a:avLst/>
            <a:gdLst/>
            <a:ahLst/>
            <a:cxnLst/>
            <a:rect l="l" t="t" r="r" b="b"/>
            <a:pathLst>
              <a:path w="18863300" h="0">
                <a:moveTo>
                  <a:pt x="0" y="0"/>
                </a:moveTo>
                <a:lnTo>
                  <a:pt x="18863300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602403" y="575217"/>
            <a:ext cx="195279" cy="4337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85"/>
              </a:lnSpc>
              <a:spcBef>
                <a:spcPts val="169"/>
              </a:spcBef>
            </a:pPr>
            <a:r>
              <a:rPr dirty="0" smtClean="0" sz="3200" spc="0">
                <a:solidFill>
                  <a:srgbClr val="1D2838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85446" y="575217"/>
            <a:ext cx="195279" cy="4337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85"/>
              </a:lnSpc>
              <a:spcBef>
                <a:spcPts val="169"/>
              </a:spcBef>
            </a:pPr>
            <a:r>
              <a:rPr dirty="0" smtClean="0" sz="3200" spc="0">
                <a:solidFill>
                  <a:srgbClr val="1D2838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65274" y="872017"/>
            <a:ext cx="1493476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esea</a:t>
            </a:r>
            <a:endParaRPr sz="4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43714" y="872017"/>
            <a:ext cx="1043792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era</a:t>
            </a:r>
            <a:endParaRPr sz="4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57284" y="872017"/>
            <a:ext cx="835431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an</a:t>
            </a:r>
            <a:endParaRPr sz="4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27360" y="872017"/>
            <a:ext cx="1042548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>
                <a:solidFill>
                  <a:srgbClr val="1D2838"/>
                </a:solidFill>
                <a:latin typeface="Arial"/>
                <a:cs typeface="Arial"/>
              </a:rPr>
              <a:t>ortr</a:t>
            </a:r>
            <a:endParaRPr sz="4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1937" y="1906417"/>
            <a:ext cx="9410119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85"/>
              </a:lnSpc>
              <a:spcBef>
                <a:spcPts val="189"/>
              </a:spcBef>
            </a:pPr>
            <a:r>
              <a:rPr dirty="0" smtClean="0" baseline="-3549" sz="3675" spc="-379">
                <a:solidFill>
                  <a:srgbClr val="F08241"/>
                </a:solidFill>
                <a:latin typeface="Arial"/>
                <a:cs typeface="Arial"/>
              </a:rPr>
              <a:t>,</a:t>
            </a:r>
            <a:r>
              <a:rPr dirty="0" smtClean="0" baseline="4973" sz="5325" spc="0">
                <a:solidFill>
                  <a:srgbClr val="F08241"/>
                </a:solidFill>
                <a:latin typeface="Courier New"/>
                <a:cs typeface="Courier New"/>
              </a:rPr>
              <a:t>,---------------------------------------------------------,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070762" y="2041589"/>
            <a:ext cx="138171" cy="3395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25"/>
              </a:lnSpc>
              <a:spcBef>
                <a:spcPts val="131"/>
              </a:spcBef>
            </a:pPr>
            <a:r>
              <a:rPr dirty="0" smtClean="0" sz="2450" spc="0">
                <a:solidFill>
                  <a:srgbClr val="F08241"/>
                </a:solidFill>
                <a:latin typeface="Arial"/>
                <a:cs typeface="Arial"/>
              </a:rPr>
              <a:t>'</a:t>
            </a:r>
            <a:endParaRPr sz="2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3406" y="2274335"/>
            <a:ext cx="86104" cy="158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75"/>
              </a:lnSpc>
              <a:spcBef>
                <a:spcPts val="58"/>
              </a:spcBef>
            </a:pPr>
            <a:r>
              <a:rPr dirty="0" smtClean="0" sz="10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65000" y="2274335"/>
            <a:ext cx="86104" cy="1589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75"/>
              </a:lnSpc>
              <a:spcBef>
                <a:spcPts val="58"/>
              </a:spcBef>
            </a:pPr>
            <a:r>
              <a:rPr dirty="0" smtClean="0" sz="1050" spc="0" i="1">
                <a:solidFill>
                  <a:srgbClr val="F08241"/>
                </a:solidFill>
                <a:latin typeface="Arial"/>
                <a:cs typeface="Arial"/>
              </a:rPr>
              <a:t>\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5274" y="4264583"/>
            <a:ext cx="501757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1600" spc="0">
                <a:solidFill>
                  <a:srgbClr val="F9F6EF"/>
                </a:solidFill>
                <a:latin typeface="Arial"/>
                <a:cs typeface="Arial"/>
              </a:rPr>
              <a:t>.,</a:t>
            </a:r>
            <a:r>
              <a:rPr dirty="0" smtClean="0" sz="1600" spc="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dirty="0" smtClean="0" sz="1600" spc="10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dirty="0" smtClean="0" sz="4450" spc="0">
                <a:solidFill>
                  <a:srgbClr val="F9F6EF"/>
                </a:solidFill>
                <a:latin typeface="Arial"/>
                <a:cs typeface="Arial"/>
              </a:rPr>
              <a:t>•.</a:t>
            </a:r>
            <a:endParaRPr sz="4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308731" y="4369235"/>
            <a:ext cx="88810" cy="190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dirty="0" smtClean="0" sz="1300" spc="0">
                <a:solidFill>
                  <a:srgbClr val="FBEFA5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64206" y="4394559"/>
            <a:ext cx="1803293" cy="8264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406" marR="44763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lmbalan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30"/>
              </a:spcBef>
            </a:pP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Tidak</a:t>
            </a:r>
            <a:r>
              <a:rPr dirty="0" smtClean="0" sz="2350" spc="208" b="1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Jelas:</a:t>
            </a:r>
            <a:endParaRPr sz="2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2357" y="4394559"/>
            <a:ext cx="815915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Siltap</a:t>
            </a:r>
            <a:endParaRPr sz="2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36884" y="4394559"/>
            <a:ext cx="1055278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sangat</a:t>
            </a:r>
            <a:endParaRPr sz="2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99152" y="4394559"/>
            <a:ext cx="2700683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bergantung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46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pada</a:t>
            </a:r>
            <a:endParaRPr sz="2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3127" y="4752145"/>
            <a:ext cx="438967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400" spc="0">
                <a:solidFill>
                  <a:srgbClr val="F9F6EF"/>
                </a:solidFill>
                <a:latin typeface="Arial"/>
                <a:cs typeface="Arial"/>
              </a:rPr>
              <a:t>•</a:t>
            </a:r>
            <a:r>
              <a:rPr dirty="0" smtClean="0" sz="1400" spc="0">
                <a:solidFill>
                  <a:srgbClr val="F9F6EF"/>
                </a:solidFill>
                <a:latin typeface="Arial"/>
                <a:cs typeface="Arial"/>
              </a:rPr>
              <a:t>      </a:t>
            </a:r>
            <a:r>
              <a:rPr dirty="0" smtClean="0" sz="1400" spc="94">
                <a:solidFill>
                  <a:srgbClr val="F9F6E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F9F6EF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10211" y="4897161"/>
            <a:ext cx="1675693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kelancaran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77173" y="4897161"/>
            <a:ext cx="699829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ADD</a:t>
            </a:r>
            <a:endParaRPr sz="2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70342" y="4897161"/>
            <a:ext cx="1182972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daerah.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7405" y="5622632"/>
            <a:ext cx="2700030" cy="3395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25"/>
              </a:lnSpc>
              <a:spcBef>
                <a:spcPts val="131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kenaikan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61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450" spc="0">
                <a:solidFill>
                  <a:srgbClr val="333D4D"/>
                </a:solidFill>
                <a:latin typeface="Arial"/>
                <a:cs typeface="Arial"/>
              </a:rPr>
              <a:t>pcnqkct</a:t>
            </a:r>
            <a:endParaRPr sz="2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2059" y="5635359"/>
            <a:ext cx="1400938" cy="8264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4763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Karir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30"/>
              </a:spcBef>
            </a:pP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Mandek:</a:t>
            </a:r>
            <a:endParaRPr sz="2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19132" y="5635359"/>
            <a:ext cx="2073536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Tidok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254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adanya</a:t>
            </a:r>
            <a:endParaRPr sz="2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94459" y="5635359"/>
            <a:ext cx="1128480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jenjang</a:t>
            </a:r>
            <a:endParaRPr sz="2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8155" y="5769817"/>
            <a:ext cx="257504" cy="5358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205"/>
              </a:lnSpc>
              <a:spcBef>
                <a:spcPts val="210"/>
              </a:spcBef>
            </a:pPr>
            <a:r>
              <a:rPr dirty="0" smtClean="0" sz="4000" spc="0">
                <a:solidFill>
                  <a:srgbClr val="F08241"/>
                </a:solidFill>
                <a:latin typeface="Arial"/>
                <a:cs typeface="Arial"/>
              </a:rPr>
              <a:t>/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11279" y="6137961"/>
            <a:ext cx="781835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yang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7274" y="6137961"/>
            <a:ext cx="3490828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sistematis</a:t>
            </a:r>
            <a:r>
              <a:rPr dirty="0" smtClean="0" sz="2350" spc="475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seperti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429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ASN.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4393" y="6876158"/>
            <a:ext cx="1636366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tv1asa</a:t>
            </a:r>
            <a:r>
              <a:rPr dirty="0" smtClean="0" sz="2350" spc="525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ker]o</a:t>
            </a:r>
            <a:endParaRPr sz="2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34236" y="6876158"/>
            <a:ext cx="2194239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yang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404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seringkali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21598" y="6876158"/>
            <a:ext cx="1000458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rentan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0302" y="7162401"/>
            <a:ext cx="282500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9289" y="7378761"/>
            <a:ext cx="2512762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 b="1">
                <a:solidFill>
                  <a:srgbClr val="333D4D"/>
                </a:solidFill>
                <a:latin typeface="Arial"/>
                <a:cs typeface="Arial"/>
              </a:rPr>
              <a:t>Ketidakpastian: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0833" y="7378761"/>
            <a:ext cx="1365485" cy="8264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terhadap</a:t>
            </a:r>
            <a:endParaRPr sz="2350">
              <a:latin typeface="Arial"/>
              <a:cs typeface="Arial"/>
            </a:endParaRPr>
          </a:p>
          <a:p>
            <a:pPr marL="20553" marR="44763">
              <a:lnSpc>
                <a:spcPct val="95825"/>
              </a:lnSpc>
              <a:spcBef>
                <a:spcPts val="1130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des</a:t>
            </a:r>
            <a:r>
              <a:rPr dirty="0" smtClean="0" sz="2350" spc="-234">
                <a:solidFill>
                  <a:srgbClr val="333D4D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a.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0054" y="7378761"/>
            <a:ext cx="1620873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33D4D"/>
                </a:solidFill>
                <a:latin typeface="Arial"/>
                <a:cs typeface="Arial"/>
              </a:rPr>
              <a:t>pergantian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0575" y="7385124"/>
            <a:ext cx="1578887" cy="3159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30"/>
              </a:lnSpc>
              <a:spcBef>
                <a:spcPts val="121"/>
              </a:spcBef>
            </a:pPr>
            <a:r>
              <a:rPr dirty="0" smtClean="0" sz="2250" spc="0">
                <a:solidFill>
                  <a:srgbClr val="333D4D"/>
                </a:solidFill>
                <a:latin typeface="Arial"/>
                <a:cs typeface="Arial"/>
              </a:rPr>
              <a:t>kekucsocn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99" y="1027521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72853" y="1027521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965" y="1042442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\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2175" y="10424429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0824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056" y="10462075"/>
            <a:ext cx="126894" cy="3081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70"/>
              </a:lnSpc>
              <a:spcBef>
                <a:spcPts val="118"/>
              </a:spcBef>
            </a:pPr>
            <a:r>
              <a:rPr dirty="0" smtClean="0" sz="2200" spc="0">
                <a:solidFill>
                  <a:srgbClr val="F08241"/>
                </a:solidFill>
                <a:latin typeface="Arial"/>
                <a:cs typeface="Arial"/>
              </a:rPr>
              <a:t>'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2560" y="10474219"/>
            <a:ext cx="9128693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85"/>
              </a:lnSpc>
              <a:spcBef>
                <a:spcPts val="189"/>
              </a:spcBef>
            </a:pPr>
            <a:r>
              <a:rPr dirty="0" smtClean="0" baseline="4973" sz="5325" spc="0">
                <a:solidFill>
                  <a:srgbClr val="F08241"/>
                </a:solidFill>
                <a:latin typeface="Courier New"/>
                <a:cs typeface="Courier New"/>
              </a:rPr>
              <a:t>---------------------------------------------------------~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76524" y="10627527"/>
            <a:ext cx="75762" cy="103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dirty="0" smtClean="0" sz="600" spc="0">
                <a:solidFill>
                  <a:srgbClr val="F08241"/>
                </a:solidFill>
                <a:latin typeface="Arial"/>
                <a:cs typeface="Arial"/>
              </a:rPr>
              <a:t>~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691078" y="706784"/>
            <a:ext cx="675372" cy="6439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460688" y="753903"/>
            <a:ext cx="1319331" cy="5968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2858551" y="706784"/>
            <a:ext cx="471189" cy="6439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3423979" y="879554"/>
            <a:ext cx="1256506" cy="4711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4759017" y="895260"/>
            <a:ext cx="455483" cy="6439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5764222" y="706784"/>
            <a:ext cx="549721" cy="6439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2528718" y="3376860"/>
            <a:ext cx="643959" cy="188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727696" y="4350652"/>
            <a:ext cx="5340151" cy="534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612546" y="1727696"/>
            <a:ext cx="18863299" cy="0"/>
          </a:xfrm>
          <a:custGeom>
            <a:avLst/>
            <a:gdLst/>
            <a:ahLst/>
            <a:cxnLst/>
            <a:rect l="l" t="t" r="r" b="b"/>
            <a:pathLst>
              <a:path w="18863299" h="0">
                <a:moveTo>
                  <a:pt x="0" y="0"/>
                </a:moveTo>
                <a:lnTo>
                  <a:pt x="18863299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11745" y="575217"/>
            <a:ext cx="212063" cy="8954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208">
              <a:lnSpc>
                <a:spcPts val="2940"/>
              </a:lnSpc>
              <a:spcBef>
                <a:spcPts val="147"/>
              </a:spcBef>
            </a:pPr>
            <a:r>
              <a:rPr dirty="0" smtClean="0" baseline="-6341" sz="4800" spc="0">
                <a:solidFill>
                  <a:srgbClr val="1D2638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28406">
              <a:lnSpc>
                <a:spcPts val="4110"/>
              </a:lnSpc>
              <a:spcBef>
                <a:spcPts val="58"/>
              </a:spcBef>
            </a:pPr>
            <a:r>
              <a:rPr dirty="0" smtClean="0" baseline="1302" sz="6675" spc="0">
                <a:solidFill>
                  <a:srgbClr val="1D2638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0519" y="586612"/>
            <a:ext cx="198420" cy="449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40"/>
              </a:lnSpc>
              <a:spcBef>
                <a:spcPts val="177"/>
              </a:spcBef>
            </a:pPr>
            <a:r>
              <a:rPr dirty="0" smtClean="0" baseline="5350" sz="4950" spc="0">
                <a:solidFill>
                  <a:srgbClr val="1D2638"/>
                </a:solidFill>
                <a:latin typeface="Courier New"/>
                <a:cs typeface="Courier New"/>
              </a:rPr>
              <a:t>•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21598" y="592383"/>
            <a:ext cx="195216" cy="441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75"/>
              </a:lnSpc>
              <a:spcBef>
                <a:spcPts val="173"/>
              </a:spcBef>
            </a:pPr>
            <a:r>
              <a:rPr dirty="0" smtClean="0" baseline="4526" sz="4875" spc="0">
                <a:solidFill>
                  <a:srgbClr val="1D2638"/>
                </a:solidFill>
                <a:latin typeface="Courier New"/>
                <a:cs typeface="Courier New"/>
              </a:rPr>
              <a:t>•</a:t>
            </a:r>
            <a:endParaRPr sz="32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7628" y="872017"/>
            <a:ext cx="835431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638"/>
                </a:solidFill>
                <a:latin typeface="Arial"/>
                <a:cs typeface="Arial"/>
              </a:rPr>
              <a:t>na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46226" y="878380"/>
            <a:ext cx="1349082" cy="582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90"/>
              </a:lnSpc>
              <a:spcBef>
                <a:spcPts val="229"/>
              </a:spcBef>
            </a:pPr>
            <a:r>
              <a:rPr dirty="0" smtClean="0" sz="4400" spc="0" b="1">
                <a:solidFill>
                  <a:srgbClr val="1D2638"/>
                </a:solidFill>
                <a:latin typeface="Arial"/>
                <a:cs typeface="Arial"/>
              </a:rPr>
              <a:t>1515</a:t>
            </a:r>
            <a:endParaRPr sz="4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34190" y="4623612"/>
            <a:ext cx="11661653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231">
              <a:lnSpc>
                <a:spcPts val="3170"/>
              </a:lnSpc>
              <a:spcBef>
                <a:spcPts val="158"/>
              </a:spcBef>
            </a:pPr>
            <a:r>
              <a:rPr dirty="0" smtClean="0" baseline="-4459" sz="3900" spc="-509">
                <a:solidFill>
                  <a:srgbClr val="F2823F"/>
                </a:solidFill>
                <a:latin typeface="Arial"/>
                <a:cs typeface="Arial"/>
              </a:rPr>
              <a:t>,</a:t>
            </a:r>
            <a:r>
              <a:rPr dirty="0" smtClean="0" baseline="-3315" sz="5325" spc="0">
                <a:solidFill>
                  <a:srgbClr val="F2823F"/>
                </a:solidFill>
                <a:latin typeface="Courier New"/>
                <a:cs typeface="Courier New"/>
              </a:rPr>
              <a:t>,-----------------------------------------------------------------------~</a:t>
            </a:r>
            <a:endParaRPr sz="3550">
              <a:latin typeface="Courier New"/>
              <a:cs typeface="Courier New"/>
            </a:endParaRPr>
          </a:p>
          <a:p>
            <a:pPr marL="12700" marR="68322">
              <a:lnSpc>
                <a:spcPts val="509"/>
              </a:lnSpc>
            </a:pPr>
            <a:r>
              <a:rPr dirty="0" smtClean="0" baseline="6102" sz="1425" spc="0" i="1">
                <a:solidFill>
                  <a:srgbClr val="F2823F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19698" y="4754720"/>
            <a:ext cx="115617" cy="2767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15"/>
              </a:lnSpc>
              <a:spcBef>
                <a:spcPts val="105"/>
              </a:spcBef>
            </a:pPr>
            <a:r>
              <a:rPr dirty="0" smtClean="0" sz="1950" spc="0">
                <a:solidFill>
                  <a:srgbClr val="F2823F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37496" y="4950774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2823F"/>
                </a:solidFill>
                <a:latin typeface="Arial"/>
                <a:cs typeface="Arial"/>
              </a:rPr>
              <a:t>\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08174" y="5037708"/>
            <a:ext cx="137090" cy="4023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130"/>
              </a:lnSpc>
              <a:spcBef>
                <a:spcPts val="156"/>
              </a:spcBef>
            </a:pPr>
            <a:r>
              <a:rPr dirty="0" smtClean="0" sz="2950" spc="0">
                <a:solidFill>
                  <a:srgbClr val="F2823F"/>
                </a:solidFill>
                <a:latin typeface="Arial"/>
                <a:cs typeface="Arial"/>
              </a:rPr>
              <a:t>'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4646" y="5701973"/>
            <a:ext cx="2629053" cy="260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95"/>
              </a:lnSpc>
              <a:spcBef>
                <a:spcPts val="99"/>
              </a:spcBef>
            </a:pPr>
            <a:r>
              <a:rPr dirty="0" smtClean="0" sz="1850" spc="0" b="1">
                <a:solidFill>
                  <a:srgbClr val="3B424F"/>
                </a:solidFill>
                <a:latin typeface="Arial"/>
                <a:cs typeface="Arial"/>
              </a:rPr>
              <a:t>Pendekatan</a:t>
            </a:r>
            <a:r>
              <a:rPr dirty="0" smtClean="0" sz="1850" spc="0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850" spc="69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850" spc="0" b="1">
                <a:solidFill>
                  <a:srgbClr val="3B424F"/>
                </a:solidFill>
                <a:latin typeface="Arial"/>
                <a:cs typeface="Arial"/>
              </a:rPr>
              <a:t>Kualitatif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95901" y="6609961"/>
            <a:ext cx="8363006" cy="570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64"/>
              </a:lnSpc>
              <a:spcBef>
                <a:spcPts val="93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menggunakan</a:t>
            </a:r>
            <a:r>
              <a:rPr dirty="0" smtClean="0" sz="1550" spc="38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s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tudi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-75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literatur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 </a:t>
            </a:r>
            <a:r>
              <a:rPr dirty="0" smtClean="0" sz="1550" spc="5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dari</a:t>
            </a:r>
            <a:r>
              <a:rPr dirty="0" smtClean="0" sz="1550" spc="367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700" spc="0" b="1">
                <a:solidFill>
                  <a:srgbClr val="3B424F"/>
                </a:solidFill>
                <a:latin typeface="Arial"/>
                <a:cs typeface="Arial"/>
              </a:rPr>
              <a:t>Buku</a:t>
            </a:r>
            <a:r>
              <a:rPr dirty="0" smtClean="0" sz="1700" spc="-200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700" spc="0" b="1">
                <a:solidFill>
                  <a:srgbClr val="3B424F"/>
                </a:solidFill>
                <a:latin typeface="Arial"/>
                <a:cs typeface="Arial"/>
              </a:rPr>
              <a:t>Materi</a:t>
            </a:r>
            <a:r>
              <a:rPr dirty="0" smtClean="0" sz="1700" spc="-69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700" spc="0" b="1">
                <a:solidFill>
                  <a:srgbClr val="3B424F"/>
                </a:solidFill>
                <a:latin typeface="Arial"/>
                <a:cs typeface="Arial"/>
              </a:rPr>
              <a:t>Pokok</a:t>
            </a:r>
            <a:r>
              <a:rPr dirty="0" smtClean="0" sz="1700" spc="-147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700" spc="0" b="1">
                <a:solidFill>
                  <a:srgbClr val="3B424F"/>
                </a:solidFill>
                <a:latin typeface="Arial"/>
                <a:cs typeface="Arial"/>
              </a:rPr>
              <a:t>ADPU4340</a:t>
            </a:r>
            <a:r>
              <a:rPr dirty="0" smtClean="0" sz="1700" spc="0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700" spc="10" b="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dan</a:t>
            </a:r>
            <a:r>
              <a:rPr dirty="0" smtClean="0" sz="1550" spc="307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pengolahan</a:t>
            </a:r>
            <a:r>
              <a:rPr dirty="0" smtClean="0" sz="1550" spc="29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data</a:t>
            </a:r>
            <a:endParaRPr sz="1550">
              <a:latin typeface="Arial"/>
              <a:cs typeface="Arial"/>
            </a:endParaRPr>
          </a:p>
          <a:p>
            <a:pPr marL="28406" marR="32983">
              <a:lnSpc>
                <a:spcPct val="95825"/>
              </a:lnSpc>
              <a:spcBef>
                <a:spcPts val="689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coding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106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untuk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146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mengidentifikasi</a:t>
            </a:r>
            <a:r>
              <a:rPr dirty="0" smtClean="0" sz="1550" spc="39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tema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-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tema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kunci</a:t>
            </a:r>
            <a:r>
              <a:rPr dirty="0" smtClean="0" sz="1550" spc="38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perma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s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alahan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29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SDM</a:t>
            </a:r>
            <a:r>
              <a:rPr dirty="0" smtClean="0" sz="1550" spc="244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De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s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a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8940" y="6629052"/>
            <a:ext cx="1752487" cy="5515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951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3B424F"/>
                </a:solidFill>
                <a:latin typeface="Arial"/>
                <a:cs typeface="Arial"/>
              </a:rPr>
              <a:t>Anali</a:t>
            </a:r>
            <a:r>
              <a:rPr dirty="0" smtClean="0" sz="1550">
                <a:solidFill>
                  <a:srgbClr val="4D545D"/>
                </a:solidFill>
                <a:latin typeface="Arial"/>
                <a:cs typeface="Arial"/>
              </a:rPr>
              <a:t>s</a:t>
            </a:r>
            <a:r>
              <a:rPr dirty="0" smtClean="0" sz="1550">
                <a:solidFill>
                  <a:srgbClr val="3B424F"/>
                </a:solidFill>
                <a:latin typeface="Arial"/>
                <a:cs typeface="Arial"/>
              </a:rPr>
              <a:t>i</a:t>
            </a:r>
            <a:r>
              <a:rPr dirty="0" smtClean="0" sz="1550">
                <a:solidFill>
                  <a:srgbClr val="4D545D"/>
                </a:solidFill>
                <a:latin typeface="Arial"/>
                <a:cs typeface="Arial"/>
              </a:rPr>
              <a:t>s</a:t>
            </a:r>
            <a:r>
              <a:rPr dirty="0" smtClean="0" sz="1550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dirty="0" smtClean="0" sz="1550" spc="125">
                <a:solidFill>
                  <a:srgbClr val="4D545D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dilakukan</a:t>
            </a:r>
            <a:endParaRPr sz="1550">
              <a:latin typeface="Arial"/>
              <a:cs typeface="Arial"/>
            </a:endParaRPr>
          </a:p>
          <a:p>
            <a:pPr marL="20553">
              <a:lnSpc>
                <a:spcPct val="95825"/>
              </a:lnSpc>
              <a:spcBef>
                <a:spcPts val="730"/>
              </a:spcBef>
            </a:pP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kualitatif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  </a:t>
            </a:r>
            <a:r>
              <a:rPr dirty="0" smtClean="0" sz="1550" spc="161">
                <a:solidFill>
                  <a:srgbClr val="3B424F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B424F"/>
                </a:solidFill>
                <a:latin typeface="Arial"/>
                <a:cs typeface="Arial"/>
              </a:rPr>
              <a:t>berbasi</a:t>
            </a:r>
            <a:r>
              <a:rPr dirty="0" smtClean="0" sz="1550" spc="0">
                <a:solidFill>
                  <a:srgbClr val="4D545D"/>
                </a:solidFill>
                <a:latin typeface="Arial"/>
                <a:cs typeface="Arial"/>
              </a:rPr>
              <a:t>s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2043" y="7612997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2823F"/>
                </a:solidFill>
                <a:latin typeface="Arial"/>
                <a:cs typeface="Arial"/>
              </a:rPr>
              <a:t>\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08174" y="7612997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2823F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46226" y="7749171"/>
            <a:ext cx="11621099" cy="48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85"/>
              </a:lnSpc>
              <a:spcBef>
                <a:spcPts val="189"/>
              </a:spcBef>
            </a:pPr>
            <a:r>
              <a:rPr dirty="0" smtClean="0" baseline="4973" sz="5325" spc="0">
                <a:solidFill>
                  <a:srgbClr val="F2823F"/>
                </a:solidFill>
                <a:latin typeface="Courier New"/>
                <a:cs typeface="Courier New"/>
              </a:rPr>
              <a:t>'------------------------------------------------------------------------~</a:t>
            </a:r>
            <a:endParaRPr sz="35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575" y="7809326"/>
            <a:ext cx="70508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2823F"/>
                </a:solidFill>
                <a:latin typeface="Arial"/>
                <a:cs typeface="Arial"/>
              </a:rPr>
              <a:t>'</a:t>
            </a:r>
            <a:endParaRPr sz="9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337496" y="7809326"/>
            <a:ext cx="82533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 i="1">
                <a:solidFill>
                  <a:srgbClr val="F2823F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628253" y="706784"/>
            <a:ext cx="534015" cy="942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887407" y="801022"/>
            <a:ext cx="0" cy="549721"/>
          </a:xfrm>
          <a:custGeom>
            <a:avLst/>
            <a:gdLst/>
            <a:ahLst/>
            <a:cxnLst/>
            <a:rect l="l" t="t" r="r" b="b"/>
            <a:pathLst>
              <a:path w="0" h="549721">
                <a:moveTo>
                  <a:pt x="0" y="549721"/>
                </a:moveTo>
                <a:lnTo>
                  <a:pt x="0" y="0"/>
                </a:lnTo>
              </a:path>
            </a:pathLst>
          </a:custGeom>
          <a:ln w="78531">
            <a:solidFill>
              <a:srgbClr val="1D2838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068030" y="879554"/>
            <a:ext cx="455483" cy="4711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586339" y="895260"/>
            <a:ext cx="675372" cy="4554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4209295" y="706784"/>
            <a:ext cx="1633458" cy="6439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6392475" y="691078"/>
            <a:ext cx="549721" cy="675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7209204" y="706784"/>
            <a:ext cx="549721" cy="6439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612546" y="2073235"/>
            <a:ext cx="9125376" cy="86070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5968404" y="706784"/>
            <a:ext cx="0" cy="518308"/>
          </a:xfrm>
          <a:custGeom>
            <a:avLst/>
            <a:gdLst/>
            <a:ahLst/>
            <a:cxnLst/>
            <a:rect l="l" t="t" r="r" b="b"/>
            <a:pathLst>
              <a:path w="0" h="518308">
                <a:moveTo>
                  <a:pt x="0" y="518308"/>
                </a:moveTo>
                <a:lnTo>
                  <a:pt x="0" y="0"/>
                </a:lnTo>
              </a:path>
            </a:pathLst>
          </a:custGeom>
          <a:ln w="78531">
            <a:solidFill>
              <a:srgbClr val="1D2838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612546" y="1727695"/>
            <a:ext cx="18863300" cy="0"/>
          </a:xfrm>
          <a:custGeom>
            <a:avLst/>
            <a:gdLst/>
            <a:ahLst/>
            <a:cxnLst/>
            <a:rect l="l" t="t" r="r" b="b"/>
            <a:pathLst>
              <a:path w="18863300" h="0">
                <a:moveTo>
                  <a:pt x="0" y="0"/>
                </a:moveTo>
                <a:lnTo>
                  <a:pt x="18863300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0366176" y="2308829"/>
            <a:ext cx="0" cy="8151584"/>
          </a:xfrm>
          <a:custGeom>
            <a:avLst/>
            <a:gdLst/>
            <a:ahLst/>
            <a:cxnLst/>
            <a:rect l="l" t="t" r="r" b="b"/>
            <a:pathLst>
              <a:path w="0" h="8151584">
                <a:moveTo>
                  <a:pt x="0" y="8151584"/>
                </a:moveTo>
                <a:lnTo>
                  <a:pt x="0" y="0"/>
                </a:lnTo>
              </a:path>
            </a:pathLst>
          </a:custGeom>
          <a:ln w="15706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0570358" y="2088941"/>
            <a:ext cx="8701305" cy="0"/>
          </a:xfrm>
          <a:custGeom>
            <a:avLst/>
            <a:gdLst/>
            <a:ahLst/>
            <a:cxnLst/>
            <a:rect l="l" t="t" r="r" b="b"/>
            <a:pathLst>
              <a:path w="8701305" h="0">
                <a:moveTo>
                  <a:pt x="0" y="0"/>
                </a:moveTo>
                <a:lnTo>
                  <a:pt x="8701305" y="0"/>
                </a:lnTo>
              </a:path>
            </a:pathLst>
          </a:custGeom>
          <a:ln w="15706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0601771" y="10664596"/>
            <a:ext cx="8654186" cy="0"/>
          </a:xfrm>
          <a:custGeom>
            <a:avLst/>
            <a:gdLst/>
            <a:ahLst/>
            <a:cxnLst/>
            <a:rect l="l" t="t" r="r" b="b"/>
            <a:pathLst>
              <a:path w="8654186" h="0">
                <a:moveTo>
                  <a:pt x="0" y="0"/>
                </a:moveTo>
                <a:lnTo>
                  <a:pt x="8654186" y="0"/>
                </a:lnTo>
              </a:path>
            </a:pathLst>
          </a:custGeom>
          <a:ln w="7853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9460140" y="2308829"/>
            <a:ext cx="0" cy="8073053"/>
          </a:xfrm>
          <a:custGeom>
            <a:avLst/>
            <a:gdLst/>
            <a:ahLst/>
            <a:cxnLst/>
            <a:rect l="l" t="t" r="r" b="b"/>
            <a:pathLst>
              <a:path w="0" h="8073053">
                <a:moveTo>
                  <a:pt x="0" y="8073053"/>
                </a:moveTo>
                <a:lnTo>
                  <a:pt x="0" y="0"/>
                </a:lnTo>
              </a:path>
            </a:pathLst>
          </a:custGeom>
          <a:ln w="7853">
            <a:solidFill>
              <a:srgbClr val="DDF9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866580" y="586612"/>
            <a:ext cx="198420" cy="449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40"/>
              </a:lnSpc>
              <a:spcBef>
                <a:spcPts val="177"/>
              </a:spcBef>
            </a:pPr>
            <a:r>
              <a:rPr dirty="0" smtClean="0" baseline="5350" sz="4950" spc="0">
                <a:solidFill>
                  <a:srgbClr val="1D2838"/>
                </a:solidFill>
                <a:latin typeface="Courier New"/>
                <a:cs typeface="Courier New"/>
              </a:rPr>
              <a:t>•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75501" y="592383"/>
            <a:ext cx="195216" cy="441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475"/>
              </a:lnSpc>
              <a:spcBef>
                <a:spcPts val="173"/>
              </a:spcBef>
            </a:pPr>
            <a:r>
              <a:rPr dirty="0" smtClean="0" baseline="4526" sz="4875" spc="0">
                <a:solidFill>
                  <a:srgbClr val="1D2838"/>
                </a:solidFill>
                <a:latin typeface="Courier New"/>
                <a:cs typeface="Courier New"/>
              </a:rPr>
              <a:t>•</a:t>
            </a:r>
            <a:endParaRPr sz="3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8955" y="872017"/>
            <a:ext cx="1214833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uan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2610" y="872017"/>
            <a:ext cx="835431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1D2838"/>
                </a:solidFill>
                <a:latin typeface="Arial"/>
                <a:cs typeface="Arial"/>
              </a:rPr>
              <a:t>na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1208" y="878380"/>
            <a:ext cx="1349082" cy="582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590"/>
              </a:lnSpc>
              <a:spcBef>
                <a:spcPts val="229"/>
              </a:spcBef>
            </a:pPr>
            <a:r>
              <a:rPr dirty="0" smtClean="0" sz="4400" spc="0" b="1">
                <a:solidFill>
                  <a:srgbClr val="1D2838"/>
                </a:solidFill>
                <a:latin typeface="Arial"/>
                <a:cs typeface="Arial"/>
              </a:rPr>
              <a:t>1515</a:t>
            </a:r>
            <a:endParaRPr sz="4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0372" y="5689246"/>
            <a:ext cx="2100522" cy="2767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15"/>
              </a:lnSpc>
              <a:spcBef>
                <a:spcPts val="105"/>
              </a:spcBef>
            </a:pPr>
            <a:r>
              <a:rPr dirty="0" smtClean="0" sz="1950" spc="0" b="1">
                <a:solidFill>
                  <a:srgbClr val="314148"/>
                </a:solidFill>
                <a:latin typeface="Arial"/>
                <a:cs typeface="Arial"/>
              </a:rPr>
              <a:t>Kesenjangan</a:t>
            </a:r>
            <a:r>
              <a:rPr dirty="0" smtClean="0" sz="1950" spc="483" b="1">
                <a:solidFill>
                  <a:srgbClr val="314148"/>
                </a:solidFill>
                <a:latin typeface="Arial"/>
                <a:cs typeface="Arial"/>
              </a:rPr>
              <a:t> </a:t>
            </a:r>
            <a:r>
              <a:rPr dirty="0" smtClean="0" sz="1950" spc="0" b="1">
                <a:solidFill>
                  <a:srgbClr val="314148"/>
                </a:solidFill>
                <a:latin typeface="Arial"/>
                <a:cs typeface="Arial"/>
              </a:rPr>
              <a:t>Skill</a:t>
            </a:r>
            <a:endParaRPr sz="1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32519" y="6629052"/>
            <a:ext cx="7621903" cy="5515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Tuntutan</a:t>
            </a:r>
            <a:r>
              <a:rPr dirty="0" smtClean="0" sz="1550" spc="311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digitalisasi</a:t>
            </a:r>
            <a:r>
              <a:rPr dirty="0" smtClean="0" sz="1550" spc="11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(Sistem</a:t>
            </a:r>
            <a:r>
              <a:rPr dirty="0" smtClean="0" sz="1550" spc="344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lnformasi</a:t>
            </a:r>
            <a:r>
              <a:rPr dirty="0" smtClean="0" sz="1550" spc="30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Deso)</a:t>
            </a:r>
            <a:r>
              <a:rPr dirty="0" smtClean="0" sz="1550" spc="35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tidak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50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dibarengi</a:t>
            </a:r>
            <a:r>
              <a:rPr dirty="0" smtClean="0" sz="1550" spc="26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dengan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240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pelatihan</a:t>
            </a:r>
            <a:endParaRPr sz="1550">
              <a:latin typeface="Arial"/>
              <a:cs typeface="Arial"/>
            </a:endParaRPr>
          </a:p>
          <a:p>
            <a:pPr marL="12700" marR="29449">
              <a:lnSpc>
                <a:spcPct val="95825"/>
              </a:lnSpc>
              <a:spcBef>
                <a:spcPts val="730"/>
              </a:spcBef>
            </a:pP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kompetensi</a:t>
            </a:r>
            <a:r>
              <a:rPr dirty="0" smtClean="0" sz="1550" spc="17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yang</a:t>
            </a:r>
            <a:r>
              <a:rPr dirty="0" smtClean="0" sz="1550" spc="392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terstruktur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132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dari</a:t>
            </a:r>
            <a:r>
              <a:rPr dirty="0" smtClean="0" sz="1550" spc="306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pemerintah</a:t>
            </a:r>
            <a:r>
              <a:rPr dirty="0" smtClean="0" sz="1550" spc="425">
                <a:solidFill>
                  <a:srgbClr val="3A4B31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A4B31"/>
                </a:solidFill>
                <a:latin typeface="Arial"/>
                <a:cs typeface="Arial"/>
              </a:rPr>
              <a:t>pusat/daerah</a:t>
            </a:r>
            <a:r>
              <a:rPr dirty="0" smtClean="0" sz="1550" spc="0">
                <a:solidFill>
                  <a:srgbClr val="385615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70358" y="1949241"/>
            <a:ext cx="870130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0601771" y="10524896"/>
            <a:ext cx="865418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675372" y="691078"/>
            <a:ext cx="471189" cy="6753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209387" y="753903"/>
            <a:ext cx="282713" cy="5968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586339" y="753903"/>
            <a:ext cx="2167473" cy="78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4350652" y="706784"/>
            <a:ext cx="1853346" cy="6596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7099260" y="706784"/>
            <a:ext cx="1429275" cy="6439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4633366" y="4696192"/>
            <a:ext cx="376951" cy="392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4287827" y="7052141"/>
            <a:ext cx="11528444" cy="1146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612546" y="1727696"/>
            <a:ext cx="18863299" cy="0"/>
          </a:xfrm>
          <a:custGeom>
            <a:avLst/>
            <a:gdLst/>
            <a:ahLst/>
            <a:cxnLst/>
            <a:rect l="l" t="t" r="r" b="b"/>
            <a:pathLst>
              <a:path w="18863299" h="0">
                <a:moveTo>
                  <a:pt x="0" y="0"/>
                </a:moveTo>
                <a:lnTo>
                  <a:pt x="18863299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4279974" y="4570541"/>
            <a:ext cx="0" cy="643959"/>
          </a:xfrm>
          <a:custGeom>
            <a:avLst/>
            <a:gdLst/>
            <a:ahLst/>
            <a:cxnLst/>
            <a:rect l="l" t="t" r="r" b="b"/>
            <a:pathLst>
              <a:path w="0" h="643959">
                <a:moveTo>
                  <a:pt x="0" y="643959"/>
                </a:moveTo>
                <a:lnTo>
                  <a:pt x="0" y="0"/>
                </a:lnTo>
              </a:path>
            </a:pathLst>
          </a:custGeom>
          <a:ln w="0">
            <a:solidFill>
              <a:srgbClr val="EFD8C6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382065" y="5709250"/>
            <a:ext cx="11339968" cy="0"/>
          </a:xfrm>
          <a:custGeom>
            <a:avLst/>
            <a:gdLst/>
            <a:ahLst/>
            <a:cxnLst/>
            <a:rect l="l" t="t" r="r" b="b"/>
            <a:pathLst>
              <a:path w="11339968" h="0">
                <a:moveTo>
                  <a:pt x="0" y="0"/>
                </a:moveTo>
                <a:lnTo>
                  <a:pt x="11339968" y="0"/>
                </a:lnTo>
              </a:path>
            </a:pathLst>
          </a:custGeom>
          <a:ln w="7853">
            <a:solidFill>
              <a:srgbClr val="DDF7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4295680" y="5795635"/>
            <a:ext cx="0" cy="942379"/>
          </a:xfrm>
          <a:custGeom>
            <a:avLst/>
            <a:gdLst/>
            <a:ahLst/>
            <a:cxnLst/>
            <a:rect l="l" t="t" r="r" b="b"/>
            <a:pathLst>
              <a:path w="0" h="942379">
                <a:moveTo>
                  <a:pt x="0" y="942379"/>
                </a:moveTo>
                <a:lnTo>
                  <a:pt x="0" y="0"/>
                </a:lnTo>
              </a:path>
            </a:pathLst>
          </a:custGeom>
          <a:ln w="15706">
            <a:solidFill>
              <a:srgbClr val="DDF7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5792712" y="5811341"/>
            <a:ext cx="0" cy="910967"/>
          </a:xfrm>
          <a:custGeom>
            <a:avLst/>
            <a:gdLst/>
            <a:ahLst/>
            <a:cxnLst/>
            <a:rect l="l" t="t" r="r" b="b"/>
            <a:pathLst>
              <a:path w="0" h="910967">
                <a:moveTo>
                  <a:pt x="0" y="910967"/>
                </a:moveTo>
                <a:lnTo>
                  <a:pt x="0" y="0"/>
                </a:lnTo>
              </a:path>
            </a:pathLst>
          </a:custGeom>
          <a:ln w="7853">
            <a:solidFill>
              <a:srgbClr val="DDF7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4382065" y="6816546"/>
            <a:ext cx="11324262" cy="0"/>
          </a:xfrm>
          <a:custGeom>
            <a:avLst/>
            <a:gdLst/>
            <a:ahLst/>
            <a:cxnLst/>
            <a:rect l="l" t="t" r="r" b="b"/>
            <a:pathLst>
              <a:path w="11324262" h="0">
                <a:moveTo>
                  <a:pt x="0" y="0"/>
                </a:moveTo>
                <a:lnTo>
                  <a:pt x="11324262" y="0"/>
                </a:lnTo>
              </a:path>
            </a:pathLst>
          </a:custGeom>
          <a:ln w="7853">
            <a:solidFill>
              <a:srgbClr val="DDF78E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851056" y="575217"/>
            <a:ext cx="212063" cy="8954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6783">
              <a:lnSpc>
                <a:spcPts val="2940"/>
              </a:lnSpc>
              <a:spcBef>
                <a:spcPts val="147"/>
              </a:spcBef>
            </a:pPr>
            <a:r>
              <a:rPr dirty="0" smtClean="0" baseline="-6341" sz="4800" spc="0">
                <a:solidFill>
                  <a:srgbClr val="1D283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28406">
              <a:lnSpc>
                <a:spcPts val="4110"/>
              </a:lnSpc>
              <a:spcBef>
                <a:spcPts val="58"/>
              </a:spcBef>
            </a:pPr>
            <a:r>
              <a:rPr dirty="0" smtClean="0" baseline="1302" sz="6675" spc="0">
                <a:solidFill>
                  <a:srgbClr val="1D2836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5537" y="575217"/>
            <a:ext cx="699452" cy="8797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 algn="r">
              <a:lnSpc>
                <a:spcPts val="2880"/>
              </a:lnSpc>
              <a:spcBef>
                <a:spcPts val="144"/>
              </a:spcBef>
            </a:pPr>
            <a:r>
              <a:rPr dirty="0" smtClean="0" baseline="-7246" sz="4800" spc="0">
                <a:solidFill>
                  <a:srgbClr val="1D2836"/>
                </a:solidFill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R="31195" algn="r">
              <a:lnSpc>
                <a:spcPts val="4045"/>
              </a:lnSpc>
              <a:spcBef>
                <a:spcPts val="58"/>
              </a:spcBef>
            </a:pPr>
            <a:r>
              <a:rPr dirty="0" smtClean="0" baseline="1954" sz="6675" spc="0">
                <a:solidFill>
                  <a:srgbClr val="1D2836"/>
                </a:solidFill>
                <a:latin typeface="Arial"/>
                <a:cs typeface="Arial"/>
              </a:rPr>
              <a:t>QI</a:t>
            </a:r>
            <a:endParaRPr sz="4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0332" y="4741598"/>
            <a:ext cx="3489523" cy="3630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15"/>
              </a:lnSpc>
              <a:spcBef>
                <a:spcPts val="140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Standardisasi</a:t>
            </a:r>
            <a:r>
              <a:rPr dirty="0" smtClean="0" sz="2350" spc="575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650" spc="0">
                <a:solidFill>
                  <a:srgbClr val="343D42"/>
                </a:solidFill>
                <a:latin typeface="Times New Roman"/>
                <a:cs typeface="Times New Roman"/>
              </a:rPr>
              <a:t>Ser+lfikosi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02732" y="4771511"/>
            <a:ext cx="1755479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Kompetensi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1785" y="4771511"/>
            <a:ext cx="690578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bagi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57101" y="4771511"/>
            <a:ext cx="1547343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Peronqkct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98413" y="4771511"/>
            <a:ext cx="903880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Desa.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107" y="6137961"/>
            <a:ext cx="288785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F9823A"/>
                </a:solidFill>
                <a:latin typeface="Arial"/>
                <a:cs typeface="Arial"/>
              </a:rPr>
              <a:t>()</a:t>
            </a:r>
            <a:endParaRPr sz="2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8185" y="6137961"/>
            <a:ext cx="1657311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Penguatan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1588" y="6137961"/>
            <a:ext cx="3301960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Regulasi</a:t>
            </a: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350" spc="193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Perlindungan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63420" y="6137961"/>
            <a:ext cx="3103246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Status</a:t>
            </a: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350" spc="265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Kepegawaian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2483" y="6137961"/>
            <a:ext cx="1811233" cy="323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(P31&lt;</a:t>
            </a:r>
            <a:r>
              <a:rPr dirty="0" smtClean="0" sz="2350" spc="301">
                <a:solidFill>
                  <a:srgbClr val="343D42"/>
                </a:solidFill>
                <a:latin typeface="Arial"/>
                <a:cs typeface="Arial"/>
              </a:rPr>
              <a:t> </a:t>
            </a:r>
            <a:r>
              <a:rPr dirty="0" smtClean="0" sz="2350" spc="0">
                <a:solidFill>
                  <a:srgbClr val="343D42"/>
                </a:solidFill>
                <a:latin typeface="Arial"/>
                <a:cs typeface="Arial"/>
              </a:rPr>
              <a:t>Desa).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2065" y="5569550"/>
            <a:ext cx="1133996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382065" y="6676846"/>
            <a:ext cx="1132426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8167290" y="2151766"/>
            <a:ext cx="863848" cy="19161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ct val="95825"/>
              </a:lnSpc>
              <a:spcBef>
                <a:spcPts val="7015"/>
              </a:spcBef>
            </a:pPr>
            <a:r>
              <a:rPr dirty="0" smtClean="0" sz="750" spc="0">
                <a:solidFill>
                  <a:srgbClr val="9E757E"/>
                </a:solidFill>
                <a:latin typeface="Arial"/>
                <a:cs typeface="Arial"/>
              </a:rPr>
              <a:t>lnternationa</a:t>
            </a:r>
            <a:endParaRPr sz="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570358" y="3392566"/>
            <a:ext cx="884209" cy="6596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ts val="4715"/>
              </a:lnSpc>
              <a:spcBef>
                <a:spcPts val="235"/>
              </a:spcBef>
            </a:pPr>
            <a:r>
              <a:rPr dirty="0" smtClean="0" sz="4450" spc="0" b="1">
                <a:solidFill>
                  <a:srgbClr val="826D4B"/>
                </a:solidFill>
                <a:latin typeface="Arial"/>
                <a:cs typeface="Arial"/>
              </a:rPr>
              <a:t>~</a:t>
            </a:r>
            <a:endParaRPr sz="4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91361" y="2513012"/>
            <a:ext cx="3581042" cy="34082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23"/>
              </a:spcBef>
            </a:pPr>
            <a:endParaRPr sz="500"/>
          </a:p>
          <a:p>
            <a:pPr marR="545549" algn="r">
              <a:lnSpc>
                <a:spcPct val="95825"/>
              </a:lnSpc>
              <a:spcBef>
                <a:spcPts val="6000"/>
              </a:spcBef>
            </a:pPr>
            <a:r>
              <a:rPr dirty="0" smtClean="0" sz="4450" spc="0" b="1">
                <a:solidFill>
                  <a:srgbClr val="465954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  <a:p>
            <a:pPr marL="2316683">
              <a:lnSpc>
                <a:spcPct val="95825"/>
              </a:lnSpc>
              <a:spcBef>
                <a:spcPts val="1027"/>
              </a:spcBef>
            </a:pPr>
            <a:r>
              <a:rPr dirty="0" smtClean="0" sz="800" spc="0">
                <a:solidFill>
                  <a:srgbClr val="9E757E"/>
                </a:solidFill>
                <a:latin typeface="Arial"/>
                <a:cs typeface="Arial"/>
              </a:rPr>
              <a:t>Day</a:t>
            </a:r>
            <a:r>
              <a:rPr dirty="0" smtClean="0" sz="800" spc="0">
                <a:solidFill>
                  <a:srgbClr val="B69CA1"/>
                </a:solidFill>
                <a:latin typeface="Arial"/>
                <a:cs typeface="Arial"/>
              </a:rPr>
              <a:t>-</a:t>
            </a:r>
            <a:r>
              <a:rPr dirty="0" smtClean="0" sz="800" spc="142">
                <a:solidFill>
                  <a:srgbClr val="B69CA1"/>
                </a:solidFill>
                <a:latin typeface="Arial"/>
                <a:cs typeface="Arial"/>
              </a:rPr>
              <a:t> </a:t>
            </a:r>
            <a:r>
              <a:rPr dirty="0" smtClean="0" sz="800" spc="0">
                <a:solidFill>
                  <a:srgbClr val="9E757E"/>
                </a:solidFill>
                <a:latin typeface="Arial"/>
                <a:cs typeface="Arial"/>
              </a:rPr>
              <a:t>January</a:t>
            </a:r>
            <a:r>
              <a:rPr dirty="0" smtClean="0" sz="800" spc="0">
                <a:solidFill>
                  <a:srgbClr val="9E757E"/>
                </a:solidFill>
                <a:latin typeface="Arial"/>
                <a:cs typeface="Arial"/>
              </a:rPr>
              <a:t> </a:t>
            </a:r>
            <a:r>
              <a:rPr dirty="0" smtClean="0" sz="800" spc="37">
                <a:solidFill>
                  <a:srgbClr val="9E757E"/>
                </a:solidFill>
                <a:latin typeface="Arial"/>
                <a:cs typeface="Arial"/>
              </a:rPr>
              <a:t> </a:t>
            </a:r>
            <a:r>
              <a:rPr dirty="0" smtClean="0" sz="800" spc="0">
                <a:solidFill>
                  <a:srgbClr val="9E757E"/>
                </a:solidFill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167290" y="2151766"/>
            <a:ext cx="863848" cy="19161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9093963" y="3518217"/>
            <a:ext cx="361245" cy="5811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9957812" y="2136060"/>
            <a:ext cx="392658" cy="193187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11072961" y="3863756"/>
            <a:ext cx="361245" cy="18847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10570358" y="3392566"/>
            <a:ext cx="848141" cy="65966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9518034" y="3486804"/>
            <a:ext cx="361245" cy="54972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8591361" y="2513012"/>
            <a:ext cx="3581042" cy="340827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1771892" y="3753812"/>
            <a:ext cx="0" cy="251301"/>
          </a:xfrm>
          <a:custGeom>
            <a:avLst/>
            <a:gdLst/>
            <a:ahLst/>
            <a:cxnLst/>
            <a:rect l="l" t="t" r="r" b="b"/>
            <a:pathLst>
              <a:path w="0" h="251301">
                <a:moveTo>
                  <a:pt x="0" y="251301"/>
                </a:moveTo>
                <a:lnTo>
                  <a:pt x="0" y="0"/>
                </a:lnTo>
              </a:path>
            </a:pathLst>
          </a:custGeom>
          <a:ln w="31412">
            <a:solidFill>
              <a:srgbClr val="465954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3769518" y="6361062"/>
            <a:ext cx="958086" cy="11151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4790430" y="6361062"/>
            <a:ext cx="785316" cy="11308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5779928" y="6690895"/>
            <a:ext cx="785316" cy="8010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7994521" y="6690895"/>
            <a:ext cx="738197" cy="80102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8921194" y="6455300"/>
            <a:ext cx="1083736" cy="10209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0130581" y="6690895"/>
            <a:ext cx="785316" cy="8010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1135786" y="6690895"/>
            <a:ext cx="738197" cy="78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1983928" y="6690895"/>
            <a:ext cx="1586339" cy="11308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3743037" y="6690895"/>
            <a:ext cx="785316" cy="8010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14748242" y="6690895"/>
            <a:ext cx="738197" cy="7853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15627796" y="6345356"/>
            <a:ext cx="675372" cy="879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77081" y="3170001"/>
            <a:ext cx="54675" cy="1196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860"/>
              </a:lnSpc>
              <a:spcBef>
                <a:spcPts val="43"/>
              </a:spcBef>
            </a:pPr>
            <a:r>
              <a:rPr dirty="0" smtClean="0" sz="750" spc="0">
                <a:solidFill>
                  <a:srgbClr val="9E757E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7861" y="6612679"/>
            <a:ext cx="327903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>
                <a:solidFill>
                  <a:srgbClr val="FDFDF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50691" y="7130988"/>
            <a:ext cx="377378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>
                <a:solidFill>
                  <a:srgbClr val="F6823B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0221" y="8466156"/>
            <a:ext cx="903000" cy="425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25"/>
              </a:lnSpc>
              <a:spcBef>
                <a:spcPts val="166"/>
              </a:spcBef>
            </a:pPr>
            <a:r>
              <a:rPr dirty="0" smtClean="0" sz="3150" spc="0">
                <a:solidFill>
                  <a:srgbClr val="343F4D"/>
                </a:solidFill>
                <a:latin typeface="Arial"/>
                <a:cs typeface="Arial"/>
              </a:rPr>
              <a:t>Mori</a:t>
            </a:r>
            <a:endParaRPr sz="3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21132" y="8466156"/>
            <a:ext cx="3235887" cy="425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25"/>
              </a:lnSpc>
              <a:spcBef>
                <a:spcPts val="166"/>
              </a:spcBef>
            </a:pPr>
            <a:r>
              <a:rPr dirty="0" smtClean="0" sz="3150" spc="0">
                <a:solidFill>
                  <a:srgbClr val="343F4D"/>
                </a:solidFill>
                <a:latin typeface="Arial"/>
                <a:cs typeface="Arial"/>
              </a:rPr>
              <a:t>Berdiskusi</a:t>
            </a:r>
            <a:r>
              <a:rPr dirty="0" smtClean="0" sz="3150" spc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mtClean="0" sz="3150" spc="38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mtClean="0" sz="3150" spc="0">
                <a:solidFill>
                  <a:srgbClr val="343F4D"/>
                </a:solidFill>
                <a:latin typeface="Arial"/>
                <a:cs typeface="Arial"/>
              </a:rPr>
              <a:t>untuk</a:t>
            </a:r>
            <a:endParaRPr sz="31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850874" y="8466156"/>
            <a:ext cx="4739340" cy="425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25"/>
              </a:lnSpc>
              <a:spcBef>
                <a:spcPts val="166"/>
              </a:spcBef>
            </a:pPr>
            <a:r>
              <a:rPr dirty="0" smtClean="0" sz="3150" spc="0" b="1">
                <a:solidFill>
                  <a:srgbClr val="343F4D"/>
                </a:solidFill>
                <a:latin typeface="Arial"/>
                <a:cs typeface="Arial"/>
              </a:rPr>
              <a:t>Desa</a:t>
            </a:r>
            <a:r>
              <a:rPr dirty="0" smtClean="0" sz="3150" spc="184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mtClean="0" sz="3150" spc="0" b="1">
                <a:solidFill>
                  <a:srgbClr val="343F4D"/>
                </a:solidFill>
                <a:latin typeface="Arial"/>
                <a:cs typeface="Arial"/>
              </a:rPr>
              <a:t>yang</a:t>
            </a:r>
            <a:r>
              <a:rPr dirty="0" smtClean="0" sz="3150" spc="734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mtClean="0" sz="3150" spc="0" b="1">
                <a:solidFill>
                  <a:srgbClr val="343F4D"/>
                </a:solidFill>
                <a:latin typeface="Arial"/>
                <a:cs typeface="Arial"/>
              </a:rPr>
              <a:t>Lebih</a:t>
            </a:r>
            <a:r>
              <a:rPr dirty="0" smtClean="0" sz="3150" spc="0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mtClean="0" sz="3150" spc="0" b="1">
                <a:solidFill>
                  <a:srgbClr val="343F4D"/>
                </a:solidFill>
                <a:latin typeface="Arial"/>
                <a:cs typeface="Arial"/>
              </a:rPr>
              <a:t>Hebat!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/>
          <p:nvPr/>
        </p:nvSpPr>
        <p:spPr>
          <a:xfrm>
            <a:off x="926673" y="895260"/>
            <a:ext cx="675372" cy="45548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1680577" y="879554"/>
            <a:ext cx="486896" cy="4868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2246004" y="895260"/>
            <a:ext cx="455483" cy="64395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780020" y="879554"/>
            <a:ext cx="455483" cy="4711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3533923" y="691078"/>
            <a:ext cx="471189" cy="6753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612546" y="4146470"/>
            <a:ext cx="1240799" cy="5497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816729" y="5277326"/>
            <a:ext cx="1020911" cy="7853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816729" y="5340151"/>
            <a:ext cx="0" cy="251301"/>
          </a:xfrm>
          <a:custGeom>
            <a:avLst/>
            <a:gdLst/>
            <a:ahLst/>
            <a:cxnLst/>
            <a:rect l="l" t="t" r="r" b="b"/>
            <a:pathLst>
              <a:path w="0" h="251301">
                <a:moveTo>
                  <a:pt x="0" y="251301"/>
                </a:moveTo>
                <a:lnTo>
                  <a:pt x="0" y="0"/>
                </a:lnTo>
              </a:path>
            </a:pathLst>
          </a:custGeom>
          <a:ln w="7853">
            <a:solidFill>
              <a:srgbClr val="EB9A5D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848141" y="7963108"/>
            <a:ext cx="1005205" cy="785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746050" y="706784"/>
            <a:ext cx="0" cy="643959"/>
          </a:xfrm>
          <a:custGeom>
            <a:avLst/>
            <a:gdLst/>
            <a:ahLst/>
            <a:cxnLst/>
            <a:rect l="l" t="t" r="r" b="b"/>
            <a:pathLst>
              <a:path w="0" h="643959">
                <a:moveTo>
                  <a:pt x="0" y="643959"/>
                </a:moveTo>
                <a:lnTo>
                  <a:pt x="0" y="0"/>
                </a:lnTo>
              </a:path>
            </a:pathLst>
          </a:custGeom>
          <a:ln w="78531">
            <a:solidFill>
              <a:srgbClr val="232B38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612546" y="1727696"/>
            <a:ext cx="18863300" cy="0"/>
          </a:xfrm>
          <a:custGeom>
            <a:avLst/>
            <a:gdLst/>
            <a:ahLst/>
            <a:cxnLst/>
            <a:rect l="l" t="t" r="r" b="b"/>
            <a:pathLst>
              <a:path w="18863300" h="0">
                <a:moveTo>
                  <a:pt x="0" y="0"/>
                </a:moveTo>
                <a:lnTo>
                  <a:pt x="18863300" y="0"/>
                </a:lnTo>
              </a:path>
            </a:pathLst>
          </a:custGeom>
          <a:ln w="78531">
            <a:solidFill>
              <a:srgbClr val="BA83EF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628253" y="5026024"/>
            <a:ext cx="18847593" cy="0"/>
          </a:xfrm>
          <a:custGeom>
            <a:avLst/>
            <a:gdLst/>
            <a:ahLst/>
            <a:cxnLst/>
            <a:rect l="l" t="t" r="r" b="b"/>
            <a:pathLst>
              <a:path w="18847593" h="0">
                <a:moveTo>
                  <a:pt x="0" y="0"/>
                </a:moveTo>
                <a:lnTo>
                  <a:pt x="18847593" y="0"/>
                </a:lnTo>
              </a:path>
            </a:pathLst>
          </a:custGeom>
          <a:ln w="7853">
            <a:solidFill>
              <a:srgbClr val="757575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28253" y="6298237"/>
            <a:ext cx="18847593" cy="0"/>
          </a:xfrm>
          <a:custGeom>
            <a:avLst/>
            <a:gdLst/>
            <a:ahLst/>
            <a:cxnLst/>
            <a:rect l="l" t="t" r="r" b="b"/>
            <a:pathLst>
              <a:path w="18847593" h="0">
                <a:moveTo>
                  <a:pt x="0" y="0"/>
                </a:moveTo>
                <a:lnTo>
                  <a:pt x="18847593" y="0"/>
                </a:lnTo>
              </a:path>
            </a:pathLst>
          </a:custGeom>
          <a:ln w="15706">
            <a:solidFill>
              <a:srgbClr val="757575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628253" y="7727513"/>
            <a:ext cx="18847593" cy="0"/>
          </a:xfrm>
          <a:custGeom>
            <a:avLst/>
            <a:gdLst/>
            <a:ahLst/>
            <a:cxnLst/>
            <a:rect l="l" t="t" r="r" b="b"/>
            <a:pathLst>
              <a:path w="18847593" h="0">
                <a:moveTo>
                  <a:pt x="0" y="0"/>
                </a:moveTo>
                <a:lnTo>
                  <a:pt x="18847593" y="0"/>
                </a:lnTo>
              </a:path>
            </a:pathLst>
          </a:custGeom>
          <a:ln w="7853">
            <a:solidFill>
              <a:srgbClr val="757575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086651" y="872017"/>
            <a:ext cx="2148411" cy="5908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650"/>
              </a:lnSpc>
              <a:spcBef>
                <a:spcPts val="232"/>
              </a:spcBef>
            </a:pPr>
            <a:r>
              <a:rPr dirty="0" smtClean="0" sz="4450" spc="0" b="1">
                <a:solidFill>
                  <a:srgbClr val="232B38"/>
                </a:solidFill>
                <a:latin typeface="Arial"/>
                <a:cs typeface="Arial"/>
              </a:rPr>
              <a:t>ources</a:t>
            </a:r>
            <a:endParaRPr sz="4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9634" y="4125787"/>
            <a:ext cx="12612273" cy="190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https://media.istockphoto.com/id/2218152702/vector/career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paths.jpg?s=612x612&amp;w=O&amp;k=20&amp;c=7FG-QvQooCQzxyrBdqjRg5mYxxAoa6xCvOFOaGa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_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BCg=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29634" y="4492991"/>
            <a:ext cx="2995348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So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ur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c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e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: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  </a:t>
            </a:r>
            <a:r>
              <a:rPr dirty="0" smtClean="0" sz="1550" spc="-169">
                <a:solidFill>
                  <a:srgbClr val="232B38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5D52BC"/>
                </a:solidFill>
                <a:latin typeface="Arial"/>
                <a:cs typeface="Arial"/>
                <a:hlinkClick r:id="rId6"/>
              </a:rPr>
              <a:t>www.istockphoto</a:t>
            </a:r>
            <a:r>
              <a:rPr dirty="0" smtClean="0" sz="1550" spc="0">
                <a:solidFill>
                  <a:srgbClr val="695DA7"/>
                </a:solidFill>
                <a:latin typeface="Arial"/>
                <a:cs typeface="Arial"/>
                <a:hlinkClick r:id="rId6"/>
              </a:rPr>
              <a:t>.</a:t>
            </a:r>
            <a:r>
              <a:rPr dirty="0" smtClean="0" sz="1550" spc="0">
                <a:solidFill>
                  <a:srgbClr val="5D52BC"/>
                </a:solidFill>
                <a:latin typeface="Arial"/>
                <a:cs typeface="Arial"/>
                <a:hlinkClick r:id="rId6"/>
              </a:rPr>
              <a:t>com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29634" y="5397999"/>
            <a:ext cx="12377917" cy="190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https://p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n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g.pngtree.com/png-vector/20230728/ourmid/p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n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gtree-i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n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centive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clipart-young-couple-throwing-money-cartoon-vector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png-image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</a:rPr>
              <a:t>_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</a:rPr>
              <a:t>6801178.png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29634" y="5765204"/>
            <a:ext cx="706143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S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our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c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e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38509" y="5765204"/>
            <a:ext cx="1254734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 spc="0">
                <a:solidFill>
                  <a:srgbClr val="5D52BC"/>
                </a:solidFill>
                <a:latin typeface="Arial"/>
                <a:cs typeface="Arial"/>
              </a:rPr>
              <a:t>pngtree.com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7699" y="6551444"/>
            <a:ext cx="554703" cy="260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95"/>
              </a:lnSpc>
              <a:spcBef>
                <a:spcPts val="99"/>
              </a:spcBef>
            </a:pPr>
            <a:r>
              <a:rPr dirty="0" smtClean="0" sz="1350" spc="0">
                <a:solidFill>
                  <a:srgbClr val="ACAFB3"/>
                </a:solidFill>
                <a:latin typeface="Arial"/>
                <a:cs typeface="Arial"/>
              </a:rPr>
              <a:t>13Li</a:t>
            </a:r>
            <a:r>
              <a:rPr dirty="0" smtClean="0" sz="1350" spc="0">
                <a:solidFill>
                  <a:srgbClr val="3F444D"/>
                </a:solidFill>
                <a:latin typeface="Arial"/>
                <a:cs typeface="Arial"/>
              </a:rPr>
              <a:t>T</a:t>
            </a:r>
            <a:r>
              <a:rPr dirty="0" smtClean="0" sz="1350" spc="31">
                <a:solidFill>
                  <a:srgbClr val="3F444D"/>
                </a:solidFill>
                <a:latin typeface="Arial"/>
                <a:cs typeface="Arial"/>
              </a:rPr>
              <a:t> </a:t>
            </a:r>
            <a:r>
              <a:rPr dirty="0" smtClean="0" sz="1850" spc="0">
                <a:solidFill>
                  <a:srgbClr val="3F444D"/>
                </a:solidFill>
                <a:latin typeface="Times New Roman"/>
                <a:cs typeface="Times New Roman"/>
              </a:rPr>
              <a:t>h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0135" y="6551444"/>
            <a:ext cx="152621" cy="260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95"/>
              </a:lnSpc>
              <a:spcBef>
                <a:spcPts val="99"/>
              </a:spcBef>
            </a:pPr>
            <a:r>
              <a:rPr dirty="0" smtClean="0" sz="1850" spc="0">
                <a:solidFill>
                  <a:srgbClr val="3F444D"/>
                </a:solidFill>
                <a:latin typeface="Times New Roman"/>
                <a:cs typeface="Times New Roman"/>
              </a:rPr>
              <a:t>b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7087" y="6551444"/>
            <a:ext cx="263635" cy="260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95"/>
              </a:lnSpc>
              <a:spcBef>
                <a:spcPts val="99"/>
              </a:spcBef>
            </a:pPr>
            <a:r>
              <a:rPr dirty="0" smtClean="0" sz="1850">
                <a:solidFill>
                  <a:srgbClr val="232B38"/>
                </a:solidFill>
                <a:latin typeface="Times New Roman"/>
                <a:cs typeface="Times New Roman"/>
              </a:rPr>
              <a:t>.</a:t>
            </a:r>
            <a:r>
              <a:rPr dirty="0" smtClean="0" sz="1850">
                <a:solidFill>
                  <a:srgbClr val="3F444D"/>
                </a:solidFill>
                <a:latin typeface="Times New Roman"/>
                <a:cs typeface="Times New Roman"/>
              </a:rPr>
              <a:t>1</a:t>
            </a:r>
            <a:r>
              <a:rPr dirty="0" smtClean="0" sz="1850" spc="100">
                <a:solidFill>
                  <a:srgbClr val="3F444D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>
                <a:solidFill>
                  <a:srgbClr val="505764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21780" y="6607387"/>
            <a:ext cx="3173334" cy="4573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553">
              <a:lnSpc>
                <a:spcPts val="1430"/>
              </a:lnSpc>
              <a:spcBef>
                <a:spcPts val="71"/>
              </a:spcBef>
            </a:pP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https</a:t>
            </a:r>
            <a:r>
              <a:rPr dirty="0" smtClean="0" sz="1300" spc="201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://static.vecteezy</a:t>
            </a:r>
            <a:r>
              <a:rPr dirty="0" smtClean="0" sz="1300" spc="0">
                <a:solidFill>
                  <a:srgbClr val="646260"/>
                </a:solidFill>
                <a:latin typeface="Arial"/>
                <a:cs typeface="Arial"/>
              </a:rPr>
              <a:t>.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com/system/resou</a:t>
            </a:r>
            <a:endParaRPr sz="1300">
              <a:latin typeface="Arial"/>
              <a:cs typeface="Arial"/>
            </a:endParaRPr>
          </a:p>
          <a:p>
            <a:pPr marL="12700" marR="24737">
              <a:lnSpc>
                <a:spcPct val="95825"/>
              </a:lnSpc>
              <a:spcBef>
                <a:spcPts val="536"/>
              </a:spcBef>
            </a:pP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ctor.jpg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3669" y="6607387"/>
            <a:ext cx="13689866" cy="190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rces/th</a:t>
            </a:r>
            <a:r>
              <a:rPr dirty="0" smtClean="0" sz="1300" spc="161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u</a:t>
            </a:r>
            <a:r>
              <a:rPr dirty="0" smtClean="0" sz="1300" spc="-38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mbna</a:t>
            </a:r>
            <a:r>
              <a:rPr dirty="0" smtClean="0" sz="1300" spc="192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</a:t>
            </a:r>
            <a:r>
              <a:rPr dirty="0" smtClean="0" sz="1300" spc="-16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ls/02</a:t>
            </a:r>
            <a:r>
              <a:rPr dirty="0" smtClean="0" sz="1300" spc="87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2/179</a:t>
            </a:r>
            <a:r>
              <a:rPr dirty="0" smtClean="0" sz="1300" spc="192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/50</a:t>
            </a:r>
            <a:r>
              <a:rPr dirty="0" smtClean="0" sz="1300" spc="167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79">
                <a:solidFill>
                  <a:srgbClr val="505764"/>
                </a:solidFill>
                <a:latin typeface="Arial"/>
                <a:cs typeface="Arial"/>
              </a:rPr>
              <a:t>5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/s</a:t>
            </a:r>
            <a:r>
              <a:rPr dirty="0" smtClean="0" sz="1300" spc="-194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ma</a:t>
            </a:r>
            <a:r>
              <a:rPr dirty="0" smtClean="0" sz="1300" spc="-77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</a:t>
            </a:r>
            <a:r>
              <a:rPr dirty="0" smtClean="0" sz="1300" spc="-16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I/business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a</a:t>
            </a:r>
            <a:r>
              <a:rPr dirty="0" smtClean="0" sz="1300" spc="84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na</a:t>
            </a:r>
            <a:r>
              <a:rPr dirty="0" smtClean="0" sz="1300" spc="-8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lys</a:t>
            </a:r>
            <a:r>
              <a:rPr dirty="0" smtClean="0" sz="1300" spc="-214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is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methodology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and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search-of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in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  </a:t>
            </a:r>
            <a:r>
              <a:rPr dirty="0" smtClean="0" sz="1300" spc="-94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formation-study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a</a:t>
            </a:r>
            <a:r>
              <a:rPr dirty="0" smtClean="0" sz="1300" spc="7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nd-resea</a:t>
            </a:r>
            <a:r>
              <a:rPr dirty="0" smtClean="0" sz="1300" spc="28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rch-doto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s</a:t>
            </a:r>
            <a:r>
              <a:rPr dirty="0" smtClean="0" sz="1300" spc="125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pecific-pro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16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blerns-flot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modern</a:t>
            </a:r>
            <a:r>
              <a:rPr dirty="0" smtClean="0" sz="1300" spc="0">
                <a:solidFill>
                  <a:srgbClr val="3F444D"/>
                </a:solidFill>
                <a:latin typeface="Arial"/>
                <a:cs typeface="Arial"/>
              </a:rPr>
              <a:t>-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-7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I</a:t>
            </a:r>
            <a:r>
              <a:rPr dirty="0" smtClean="0" sz="1300" spc="-169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lu</a:t>
            </a:r>
            <a:r>
              <a:rPr dirty="0" smtClean="0" sz="1300" spc="-194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stratio</a:t>
            </a:r>
            <a:r>
              <a:rPr dirty="0" smtClean="0" sz="1300" spc="338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300" spc="0">
                <a:solidFill>
                  <a:srgbClr val="505764"/>
                </a:solidFill>
                <a:latin typeface="Arial"/>
                <a:cs typeface="Arial"/>
              </a:rPr>
              <a:t>n-ve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699" y="6691877"/>
            <a:ext cx="1666728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6BA359"/>
                </a:solidFill>
                <a:latin typeface="Arial"/>
                <a:cs typeface="Arial"/>
              </a:rPr>
              <a:t>,.,</a:t>
            </a:r>
            <a:r>
              <a:rPr dirty="0" smtClean="0" sz="1550">
                <a:solidFill>
                  <a:srgbClr val="859A82"/>
                </a:solidFill>
                <a:latin typeface="Arial"/>
                <a:cs typeface="Arial"/>
              </a:rPr>
              <a:t>..,</a:t>
            </a:r>
            <a:r>
              <a:rPr dirty="0" smtClean="0" sz="1550">
                <a:solidFill>
                  <a:srgbClr val="859A82"/>
                </a:solidFill>
                <a:latin typeface="Arial"/>
                <a:cs typeface="Arial"/>
              </a:rPr>
              <a:t>   </a:t>
            </a:r>
            <a:r>
              <a:rPr dirty="0" smtClean="0" sz="1550" spc="114">
                <a:solidFill>
                  <a:srgbClr val="859A82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3F444D"/>
                </a:solidFill>
                <a:latin typeface="Arial"/>
                <a:cs typeface="Arial"/>
              </a:rPr>
              <a:t>um</a:t>
            </a:r>
            <a:r>
              <a:rPr dirty="0" smtClean="0" sz="1550" spc="0">
                <a:solidFill>
                  <a:srgbClr val="3F444D"/>
                </a:solidFill>
                <a:latin typeface="Arial"/>
                <a:cs typeface="Arial"/>
              </a:rPr>
              <a:t>  </a:t>
            </a:r>
            <a:r>
              <a:rPr dirty="0" smtClean="0" sz="1550" spc="8">
                <a:solidFill>
                  <a:srgbClr val="3F444D"/>
                </a:solidFill>
                <a:latin typeface="Arial"/>
                <a:cs typeface="Arial"/>
              </a:rPr>
              <a:t> </a:t>
            </a:r>
            <a:r>
              <a:rPr dirty="0" smtClean="0" sz="1450" spc="0">
                <a:solidFill>
                  <a:srgbClr val="3F444D"/>
                </a:solidFill>
                <a:latin typeface="Arial"/>
                <a:cs typeface="Arial"/>
              </a:rPr>
              <a:t>n</a:t>
            </a:r>
            <a:r>
              <a:rPr dirty="0" smtClean="0" sz="1450" spc="0">
                <a:solidFill>
                  <a:srgbClr val="505764"/>
                </a:solidFill>
                <a:latin typeface="Arial"/>
                <a:cs typeface="Arial"/>
              </a:rPr>
              <a:t>o</a:t>
            </a:r>
            <a:r>
              <a:rPr dirty="0" smtClean="0" sz="1450" spc="0">
                <a:solidFill>
                  <a:srgbClr val="3F444D"/>
                </a:solidFill>
                <a:latin typeface="Arial"/>
                <a:cs typeface="Arial"/>
              </a:rPr>
              <a:t>i</a:t>
            </a:r>
            <a:r>
              <a:rPr dirty="0" smtClean="0" sz="1450" spc="0">
                <a:solidFill>
                  <a:srgbClr val="3F444D"/>
                </a:solidFill>
                <a:latin typeface="Arial"/>
                <a:cs typeface="Arial"/>
              </a:rPr>
              <a:t>    </a:t>
            </a:r>
            <a:r>
              <a:rPr dirty="0" smtClean="0" sz="1450" spc="-200">
                <a:solidFill>
                  <a:srgbClr val="3F444D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505764"/>
                </a:solidFill>
                <a:latin typeface="Arial"/>
                <a:cs typeface="Arial"/>
              </a:rPr>
              <a:t>o</a:t>
            </a:r>
            <a:r>
              <a:rPr dirty="0" smtClean="0" sz="1550" spc="0">
                <a:solidFill>
                  <a:srgbClr val="3F444D"/>
                </a:solidFill>
                <a:latin typeface="Arial"/>
                <a:cs typeface="Arial"/>
              </a:rPr>
              <a:t>r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553" y="7037416"/>
            <a:ext cx="1867799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  <a:hlinkClick r:id="rId5"/>
              </a:rPr>
              <a:t>www.v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  <a:hlinkClick r:id="rId5"/>
              </a:rPr>
              <a:t>e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  <a:hlinkClick r:id="rId5"/>
              </a:rPr>
              <a:t>c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  <a:hlinkClick r:id="rId5"/>
              </a:rPr>
              <a:t>tee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  <a:hlinkClick r:id="rId5"/>
              </a:rPr>
              <a:t>zy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  <a:hlinkClick r:id="rId5"/>
              </a:rPr>
              <a:t>.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  <a:hlinkClick r:id="rId5"/>
              </a:rPr>
              <a:t>c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  <a:hlinkClick r:id="rId5"/>
              </a:rPr>
              <a:t>om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9634" y="7241598"/>
            <a:ext cx="2695357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Sou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r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ce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: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 </a:t>
            </a:r>
            <a:r>
              <a:rPr dirty="0" smtClean="0" sz="1550" spc="134">
                <a:solidFill>
                  <a:srgbClr val="232B38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5D52BC"/>
                </a:solidFill>
                <a:latin typeface="Arial"/>
                <a:cs typeface="Arial"/>
                <a:hlinkClick r:id="rId4"/>
              </a:rPr>
              <a:t>www.vecteezy.com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3239" y="8068822"/>
            <a:ext cx="95463" cy="2295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9"/>
              </a:lnSpc>
              <a:spcBef>
                <a:spcPts val="87"/>
              </a:spcBef>
            </a:pPr>
            <a:r>
              <a:rPr dirty="0" smtClean="0" sz="1600" spc="0">
                <a:solidFill>
                  <a:srgbClr val="C8ACAC"/>
                </a:solidFill>
                <a:latin typeface="Times New Roman"/>
                <a:cs typeface="Times New Roman"/>
              </a:rPr>
              <a:t>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29634" y="8099488"/>
            <a:ext cx="8020179" cy="1903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https://www</a:t>
            </a:r>
            <a:r>
              <a:rPr dirty="0" smtClean="0" sz="1300">
                <a:solidFill>
                  <a:srgbClr val="646260"/>
                </a:solidFill>
                <a:latin typeface="Arial"/>
                <a:cs typeface="Arial"/>
                <a:hlinkClick r:id="rId3"/>
              </a:rPr>
              <a:t>.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slidekit.com/wp-conte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n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t/uploads/2024/08/Ppt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Slide-For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Thank-You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Day</a:t>
            </a:r>
            <a:r>
              <a:rPr dirty="0" smtClean="0" sz="1300">
                <a:solidFill>
                  <a:srgbClr val="646260"/>
                </a:solidFill>
                <a:latin typeface="Arial"/>
                <a:cs typeface="Arial"/>
                <a:hlinkClick r:id="rId3"/>
              </a:rPr>
              <a:t>-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Prese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n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tatio</a:t>
            </a:r>
            <a:r>
              <a:rPr dirty="0" smtClean="0" sz="1300">
                <a:solidFill>
                  <a:srgbClr val="3F444D"/>
                </a:solidFill>
                <a:latin typeface="Arial"/>
                <a:cs typeface="Arial"/>
                <a:hlinkClick r:id="rId3"/>
              </a:rPr>
              <a:t>n</a:t>
            </a:r>
            <a:r>
              <a:rPr dirty="0" smtClean="0" sz="1300">
                <a:solidFill>
                  <a:srgbClr val="646260"/>
                </a:solidFill>
                <a:latin typeface="Arial"/>
                <a:cs typeface="Arial"/>
                <a:hlinkClick r:id="rId3"/>
              </a:rPr>
              <a:t>.</a:t>
            </a:r>
            <a:r>
              <a:rPr dirty="0" smtClean="0" sz="1300">
                <a:solidFill>
                  <a:srgbClr val="505764"/>
                </a:solidFill>
                <a:latin typeface="Arial"/>
                <a:cs typeface="Arial"/>
                <a:hlinkClick r:id="rId3"/>
              </a:rPr>
              <a:t>jpg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469" y="8237055"/>
            <a:ext cx="1120858" cy="253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dirty="0" smtClean="0" sz="1800" spc="0">
                <a:solidFill>
                  <a:srgbClr val="505764"/>
                </a:solidFill>
                <a:latin typeface="Arial"/>
                <a:cs typeface="Arial"/>
              </a:rPr>
              <a:t>Th~t1k</a:t>
            </a:r>
            <a:r>
              <a:rPr dirty="0" smtClean="0" sz="1800" spc="-40">
                <a:solidFill>
                  <a:srgbClr val="505764"/>
                </a:solidFill>
                <a:latin typeface="Arial"/>
                <a:cs typeface="Arial"/>
              </a:rPr>
              <a:t> </a:t>
            </a:r>
            <a:r>
              <a:rPr dirty="0" smtClean="0" sz="1800" spc="0">
                <a:solidFill>
                  <a:srgbClr val="505764"/>
                </a:solidFill>
                <a:latin typeface="Arial"/>
                <a:cs typeface="Arial"/>
              </a:rPr>
              <a:t>Y</a:t>
            </a:r>
            <a:r>
              <a:rPr dirty="0" smtClean="0" sz="1800" spc="0">
                <a:solidFill>
                  <a:srgbClr val="646260"/>
                </a:solidFill>
                <a:latin typeface="Arial"/>
                <a:cs typeface="Arial"/>
              </a:rPr>
              <a:t>c</a:t>
            </a:r>
            <a:r>
              <a:rPr dirty="0" smtClean="0" sz="1800" spc="0">
                <a:solidFill>
                  <a:srgbClr val="505764"/>
                </a:solidFill>
                <a:latin typeface="Arial"/>
                <a:cs typeface="Arial"/>
              </a:rPr>
              <a:t>t</a:t>
            </a:r>
            <a:r>
              <a:rPr dirty="0" smtClean="0" sz="1800" spc="0">
                <a:solidFill>
                  <a:srgbClr val="646260"/>
                </a:solidFill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3527" y="8430131"/>
            <a:ext cx="68592" cy="1117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40"/>
              </a:spcBef>
            </a:pPr>
            <a:r>
              <a:rPr dirty="0" smtClean="0" sz="650" spc="0">
                <a:solidFill>
                  <a:srgbClr val="C8ACAC"/>
                </a:solidFill>
                <a:latin typeface="Arial"/>
                <a:cs typeface="Arial"/>
              </a:rPr>
              <a:t>•</a:t>
            </a:r>
            <a:endParaRPr sz="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9634" y="8458839"/>
            <a:ext cx="2503151" cy="2217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80"/>
              </a:lnSpc>
              <a:spcBef>
                <a:spcPts val="84"/>
              </a:spcBef>
            </a:pP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Sou</a:t>
            </a:r>
            <a:r>
              <a:rPr dirty="0" smtClean="0" sz="1550">
                <a:solidFill>
                  <a:srgbClr val="3F444D"/>
                </a:solidFill>
                <a:latin typeface="Arial"/>
                <a:cs typeface="Arial"/>
              </a:rPr>
              <a:t>r</a:t>
            </a:r>
            <a:r>
              <a:rPr dirty="0" smtClean="0" sz="1550">
                <a:solidFill>
                  <a:srgbClr val="505764"/>
                </a:solidFill>
                <a:latin typeface="Arial"/>
                <a:cs typeface="Arial"/>
              </a:rPr>
              <a:t>ce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:</a:t>
            </a:r>
            <a:r>
              <a:rPr dirty="0" smtClean="0" sz="1550">
                <a:solidFill>
                  <a:srgbClr val="232B38"/>
                </a:solidFill>
                <a:latin typeface="Arial"/>
                <a:cs typeface="Arial"/>
              </a:rPr>
              <a:t> </a:t>
            </a:r>
            <a:r>
              <a:rPr dirty="0" smtClean="0" sz="1550" spc="200">
                <a:solidFill>
                  <a:srgbClr val="232B38"/>
                </a:solidFill>
                <a:latin typeface="Arial"/>
                <a:cs typeface="Arial"/>
              </a:rPr>
              <a:t> </a:t>
            </a:r>
            <a:r>
              <a:rPr dirty="0" smtClean="0" sz="1550" spc="0">
                <a:solidFill>
                  <a:srgbClr val="5D52BC"/>
                </a:solidFill>
                <a:latin typeface="Arial"/>
                <a:cs typeface="Arial"/>
                <a:hlinkClick r:id="rId2"/>
              </a:rPr>
              <a:t>www.slidekit.com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4484" y="8621860"/>
            <a:ext cx="122531" cy="253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dirty="0" smtClean="0" sz="1800" spc="0">
                <a:solidFill>
                  <a:srgbClr val="EDB362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0023" y="8673174"/>
            <a:ext cx="102737" cy="151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dirty="0" smtClean="0" sz="950" spc="0">
                <a:solidFill>
                  <a:srgbClr val="A3874B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8267" y="8685901"/>
            <a:ext cx="95379" cy="1353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5"/>
              </a:spcBef>
            </a:pPr>
            <a:r>
              <a:rPr dirty="0" smtClean="0" sz="850" spc="0">
                <a:solidFill>
                  <a:srgbClr val="CA6675"/>
                </a:solidFill>
                <a:latin typeface="Arial"/>
                <a:cs typeface="Arial"/>
              </a:rPr>
              <a:t>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253" y="4886324"/>
            <a:ext cx="1884759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28253" y="6158537"/>
            <a:ext cx="1884759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628253" y="7587813"/>
            <a:ext cx="1884759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